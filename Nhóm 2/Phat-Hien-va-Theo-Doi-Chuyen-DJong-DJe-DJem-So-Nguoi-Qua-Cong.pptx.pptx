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Lst>
  <p:sldSz cx="18288000" cy="10287000"/>
  <p:notesSz cx="6858000" cy="9144000"/>
  <p:embeddedFontLst>
    <p:embeddedFont>
      <p:font typeface="Eastman Grotesque Bold" panose="020B0604020202020204" charset="0"/>
      <p:regular r:id="rId15"/>
    </p:embeddedFont>
    <p:embeddedFont>
      <p:font typeface="Helios" panose="020B0604020202020204" charset="0"/>
      <p:regular r:id="rId16"/>
    </p:embeddedFont>
    <p:embeddedFont>
      <p:font typeface="Helios Bold" panose="020B0604020202020204" charset="0"/>
      <p:regular r:id="rId17"/>
    </p:embeddedFont>
    <p:embeddedFont>
      <p:font typeface="Inter" panose="020B0604020202020204" charset="0"/>
      <p:regular r:id="rId18"/>
    </p:embeddedFont>
    <p:embeddedFont>
      <p:font typeface="Inter Bold" panose="020B0604020202020204" charset="0"/>
      <p:regular r:id="rId19"/>
    </p:embeddedFont>
    <p:embeddedFont>
      <p:font typeface="Petrona"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25.10.2025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gamma.app/?utm_source=made-with-gamm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hyperlink" Target="https://gamma.app/?utm_source=made-with-gamma"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image" Target="../media/image20.sv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Freeform 2"/>
          <p:cNvSpPr/>
          <p:nvPr/>
        </p:nvSpPr>
        <p:spPr>
          <a:xfrm rot="-2700000">
            <a:off x="-6708426" y="1007040"/>
            <a:ext cx="11641929" cy="11641929"/>
          </a:xfrm>
          <a:custGeom>
            <a:avLst/>
            <a:gdLst/>
            <a:ahLst/>
            <a:cxnLst/>
            <a:rect l="l" t="t" r="r" b="b"/>
            <a:pathLst>
              <a:path w="11641929" h="11641929">
                <a:moveTo>
                  <a:pt x="0" y="0"/>
                </a:moveTo>
                <a:lnTo>
                  <a:pt x="11641929" y="0"/>
                </a:lnTo>
                <a:lnTo>
                  <a:pt x="11641929" y="11641929"/>
                </a:lnTo>
                <a:lnTo>
                  <a:pt x="0" y="11641929"/>
                </a:lnTo>
                <a:lnTo>
                  <a:pt x="0" y="0"/>
                </a:lnTo>
                <a:close/>
              </a:path>
            </a:pathLst>
          </a:custGeom>
          <a:blipFill>
            <a:blip r:embed="rId2">
              <a:alphaModFix amt="6999"/>
            </a:blip>
            <a:stretch>
              <a:fillRect/>
            </a:stretch>
          </a:blipFill>
        </p:spPr>
        <p:txBody>
          <a:bodyPr/>
          <a:lstStyle/>
          <a:p>
            <a:endParaRPr lang="en-GB"/>
          </a:p>
        </p:txBody>
      </p:sp>
      <p:grpSp>
        <p:nvGrpSpPr>
          <p:cNvPr id="3" name="Group 3"/>
          <p:cNvGrpSpPr/>
          <p:nvPr/>
        </p:nvGrpSpPr>
        <p:grpSpPr>
          <a:xfrm rot="-2700000">
            <a:off x="-6319036" y="3301981"/>
            <a:ext cx="10863149" cy="10863149"/>
            <a:chOff x="0" y="0"/>
            <a:chExt cx="2041549" cy="2041549"/>
          </a:xfrm>
        </p:grpSpPr>
        <p:sp>
          <p:nvSpPr>
            <p:cNvPr id="4" name="Freeform 4"/>
            <p:cNvSpPr/>
            <p:nvPr/>
          </p:nvSpPr>
          <p:spPr>
            <a:xfrm>
              <a:off x="0" y="0"/>
              <a:ext cx="2041549" cy="2041549"/>
            </a:xfrm>
            <a:custGeom>
              <a:avLst/>
              <a:gdLst/>
              <a:ahLst/>
              <a:cxnLst/>
              <a:rect l="l" t="t" r="r" b="b"/>
              <a:pathLst>
                <a:path w="2041549" h="2041549">
                  <a:moveTo>
                    <a:pt x="71268" y="0"/>
                  </a:moveTo>
                  <a:lnTo>
                    <a:pt x="1970282" y="0"/>
                  </a:lnTo>
                  <a:cubicBezTo>
                    <a:pt x="1989183" y="0"/>
                    <a:pt x="2007310" y="7509"/>
                    <a:pt x="2020675" y="20874"/>
                  </a:cubicBezTo>
                  <a:cubicBezTo>
                    <a:pt x="2034041" y="34239"/>
                    <a:pt x="2041549" y="52366"/>
                    <a:pt x="2041549" y="71268"/>
                  </a:cubicBezTo>
                  <a:lnTo>
                    <a:pt x="2041549" y="1970282"/>
                  </a:lnTo>
                  <a:cubicBezTo>
                    <a:pt x="2041549" y="2009642"/>
                    <a:pt x="2009642" y="2041549"/>
                    <a:pt x="1970282" y="2041549"/>
                  </a:cubicBezTo>
                  <a:lnTo>
                    <a:pt x="71268" y="2041549"/>
                  </a:lnTo>
                  <a:cubicBezTo>
                    <a:pt x="31908" y="2041549"/>
                    <a:pt x="0" y="2009642"/>
                    <a:pt x="0" y="1970282"/>
                  </a:cubicBezTo>
                  <a:lnTo>
                    <a:pt x="0" y="71268"/>
                  </a:lnTo>
                  <a:cubicBezTo>
                    <a:pt x="0" y="31908"/>
                    <a:pt x="31908" y="0"/>
                    <a:pt x="71268" y="0"/>
                  </a:cubicBezTo>
                  <a:close/>
                </a:path>
              </a:pathLst>
            </a:custGeom>
            <a:solidFill>
              <a:srgbClr val="FFFFFF"/>
            </a:solidFill>
          </p:spPr>
          <p:txBody>
            <a:bodyPr/>
            <a:lstStyle/>
            <a:p>
              <a:endParaRPr lang="en-GB"/>
            </a:p>
          </p:txBody>
        </p:sp>
        <p:sp>
          <p:nvSpPr>
            <p:cNvPr id="5" name="TextBox 5"/>
            <p:cNvSpPr txBox="1"/>
            <p:nvPr/>
          </p:nvSpPr>
          <p:spPr>
            <a:xfrm>
              <a:off x="0" y="-47625"/>
              <a:ext cx="2041549" cy="2089174"/>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8100000">
            <a:off x="5777215" y="8325796"/>
            <a:ext cx="5636927" cy="605970"/>
          </a:xfrm>
          <a:custGeom>
            <a:avLst/>
            <a:gdLst/>
            <a:ahLst/>
            <a:cxnLst/>
            <a:rect l="l" t="t" r="r" b="b"/>
            <a:pathLst>
              <a:path w="5636927" h="605970">
                <a:moveTo>
                  <a:pt x="0" y="0"/>
                </a:moveTo>
                <a:lnTo>
                  <a:pt x="5636927" y="0"/>
                </a:lnTo>
                <a:lnTo>
                  <a:pt x="5636927" y="605969"/>
                </a:lnTo>
                <a:lnTo>
                  <a:pt x="0" y="605969"/>
                </a:lnTo>
                <a:lnTo>
                  <a:pt x="0" y="0"/>
                </a:lnTo>
                <a:close/>
              </a:path>
            </a:pathLst>
          </a:custGeom>
          <a:blipFill>
            <a:blip r:embed="rId3"/>
            <a:stretch>
              <a:fillRect/>
            </a:stretch>
          </a:blipFill>
        </p:spPr>
        <p:txBody>
          <a:bodyPr/>
          <a:lstStyle/>
          <a:p>
            <a:endParaRPr lang="en-GB"/>
          </a:p>
        </p:txBody>
      </p:sp>
      <p:grpSp>
        <p:nvGrpSpPr>
          <p:cNvPr id="7" name="Group 7"/>
          <p:cNvGrpSpPr/>
          <p:nvPr/>
        </p:nvGrpSpPr>
        <p:grpSpPr>
          <a:xfrm rot="-2700000">
            <a:off x="7495978" y="7887028"/>
            <a:ext cx="5776308" cy="3366163"/>
            <a:chOff x="0" y="0"/>
            <a:chExt cx="1721191" cy="1003030"/>
          </a:xfrm>
        </p:grpSpPr>
        <p:sp>
          <p:nvSpPr>
            <p:cNvPr id="8" name="Freeform 8"/>
            <p:cNvSpPr/>
            <p:nvPr/>
          </p:nvSpPr>
          <p:spPr>
            <a:xfrm>
              <a:off x="0" y="0"/>
              <a:ext cx="1721191" cy="1003030"/>
            </a:xfrm>
            <a:custGeom>
              <a:avLst/>
              <a:gdLst/>
              <a:ahLst/>
              <a:cxnLst/>
              <a:rect l="l" t="t" r="r" b="b"/>
              <a:pathLst>
                <a:path w="1721191" h="1003030">
                  <a:moveTo>
                    <a:pt x="0" y="0"/>
                  </a:moveTo>
                  <a:lnTo>
                    <a:pt x="1721191" y="0"/>
                  </a:lnTo>
                  <a:lnTo>
                    <a:pt x="1721191" y="1003030"/>
                  </a:lnTo>
                  <a:lnTo>
                    <a:pt x="0" y="1003030"/>
                  </a:lnTo>
                  <a:close/>
                </a:path>
              </a:pathLst>
            </a:custGeom>
            <a:solidFill>
              <a:srgbClr val="A6A6A6"/>
            </a:solidFill>
          </p:spPr>
          <p:txBody>
            <a:bodyPr/>
            <a:lstStyle/>
            <a:p>
              <a:endParaRPr lang="en-GB"/>
            </a:p>
          </p:txBody>
        </p:sp>
        <p:sp>
          <p:nvSpPr>
            <p:cNvPr id="9" name="TextBox 9"/>
            <p:cNvSpPr txBox="1"/>
            <p:nvPr/>
          </p:nvSpPr>
          <p:spPr>
            <a:xfrm>
              <a:off x="0" y="-47625"/>
              <a:ext cx="1721191" cy="1050655"/>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rot="2700000">
            <a:off x="3826817" y="519180"/>
            <a:ext cx="5636927" cy="605970"/>
          </a:xfrm>
          <a:custGeom>
            <a:avLst/>
            <a:gdLst/>
            <a:ahLst/>
            <a:cxnLst/>
            <a:rect l="l" t="t" r="r" b="b"/>
            <a:pathLst>
              <a:path w="5636927" h="605970">
                <a:moveTo>
                  <a:pt x="0" y="0"/>
                </a:moveTo>
                <a:lnTo>
                  <a:pt x="5636927" y="0"/>
                </a:lnTo>
                <a:lnTo>
                  <a:pt x="5636927" y="605969"/>
                </a:lnTo>
                <a:lnTo>
                  <a:pt x="0" y="605969"/>
                </a:lnTo>
                <a:lnTo>
                  <a:pt x="0" y="0"/>
                </a:lnTo>
                <a:close/>
              </a:path>
            </a:pathLst>
          </a:custGeom>
          <a:blipFill>
            <a:blip r:embed="rId3"/>
            <a:stretch>
              <a:fillRect/>
            </a:stretch>
          </a:blipFill>
        </p:spPr>
        <p:txBody>
          <a:bodyPr/>
          <a:lstStyle/>
          <a:p>
            <a:endParaRPr lang="en-GB"/>
          </a:p>
        </p:txBody>
      </p:sp>
      <p:grpSp>
        <p:nvGrpSpPr>
          <p:cNvPr id="11" name="Group 11"/>
          <p:cNvGrpSpPr/>
          <p:nvPr/>
        </p:nvGrpSpPr>
        <p:grpSpPr>
          <a:xfrm rot="-8100000">
            <a:off x="6265606" y="-778255"/>
            <a:ext cx="4275519" cy="2511321"/>
            <a:chOff x="0" y="0"/>
            <a:chExt cx="1273995" cy="748309"/>
          </a:xfrm>
        </p:grpSpPr>
        <p:sp>
          <p:nvSpPr>
            <p:cNvPr id="12" name="Freeform 12"/>
            <p:cNvSpPr/>
            <p:nvPr/>
          </p:nvSpPr>
          <p:spPr>
            <a:xfrm>
              <a:off x="0" y="0"/>
              <a:ext cx="1273995" cy="748309"/>
            </a:xfrm>
            <a:custGeom>
              <a:avLst/>
              <a:gdLst/>
              <a:ahLst/>
              <a:cxnLst/>
              <a:rect l="l" t="t" r="r" b="b"/>
              <a:pathLst>
                <a:path w="1273995" h="748309">
                  <a:moveTo>
                    <a:pt x="0" y="0"/>
                  </a:moveTo>
                  <a:lnTo>
                    <a:pt x="1273995" y="0"/>
                  </a:lnTo>
                  <a:lnTo>
                    <a:pt x="1273995" y="748309"/>
                  </a:lnTo>
                  <a:lnTo>
                    <a:pt x="0" y="748309"/>
                  </a:lnTo>
                  <a:close/>
                </a:path>
              </a:pathLst>
            </a:custGeom>
            <a:solidFill>
              <a:srgbClr val="16599D"/>
            </a:solidFill>
          </p:spPr>
          <p:txBody>
            <a:bodyPr/>
            <a:lstStyle/>
            <a:p>
              <a:endParaRPr lang="en-GB"/>
            </a:p>
          </p:txBody>
        </p:sp>
        <p:sp>
          <p:nvSpPr>
            <p:cNvPr id="13" name="TextBox 13"/>
            <p:cNvSpPr txBox="1"/>
            <p:nvPr/>
          </p:nvSpPr>
          <p:spPr>
            <a:xfrm>
              <a:off x="0" y="-47625"/>
              <a:ext cx="1273995" cy="795934"/>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rot="-2700000">
            <a:off x="9562903" y="-1975037"/>
            <a:ext cx="11641929" cy="11641929"/>
          </a:xfrm>
          <a:custGeom>
            <a:avLst/>
            <a:gdLst/>
            <a:ahLst/>
            <a:cxnLst/>
            <a:rect l="l" t="t" r="r" b="b"/>
            <a:pathLst>
              <a:path w="11641929" h="11641929">
                <a:moveTo>
                  <a:pt x="0" y="0"/>
                </a:moveTo>
                <a:lnTo>
                  <a:pt x="11641929" y="0"/>
                </a:lnTo>
                <a:lnTo>
                  <a:pt x="11641929" y="11641930"/>
                </a:lnTo>
                <a:lnTo>
                  <a:pt x="0" y="11641930"/>
                </a:lnTo>
                <a:lnTo>
                  <a:pt x="0" y="0"/>
                </a:lnTo>
                <a:close/>
              </a:path>
            </a:pathLst>
          </a:custGeom>
          <a:blipFill>
            <a:blip r:embed="rId2">
              <a:alphaModFix amt="58000"/>
            </a:blip>
            <a:stretch>
              <a:fillRect/>
            </a:stretch>
          </a:blipFill>
        </p:spPr>
        <p:txBody>
          <a:bodyPr/>
          <a:lstStyle/>
          <a:p>
            <a:endParaRPr lang="en-GB"/>
          </a:p>
        </p:txBody>
      </p:sp>
      <p:grpSp>
        <p:nvGrpSpPr>
          <p:cNvPr id="15" name="Group 15"/>
          <p:cNvGrpSpPr/>
          <p:nvPr/>
        </p:nvGrpSpPr>
        <p:grpSpPr>
          <a:xfrm rot="-2700000">
            <a:off x="9894321" y="-1643619"/>
            <a:ext cx="10863149" cy="10863149"/>
            <a:chOff x="0" y="0"/>
            <a:chExt cx="2041549" cy="2041549"/>
          </a:xfrm>
        </p:grpSpPr>
        <p:sp>
          <p:nvSpPr>
            <p:cNvPr id="16" name="Freeform 16"/>
            <p:cNvSpPr/>
            <p:nvPr/>
          </p:nvSpPr>
          <p:spPr>
            <a:xfrm>
              <a:off x="0" y="0"/>
              <a:ext cx="2041549" cy="2041549"/>
            </a:xfrm>
            <a:custGeom>
              <a:avLst/>
              <a:gdLst/>
              <a:ahLst/>
              <a:cxnLst/>
              <a:rect l="l" t="t" r="r" b="b"/>
              <a:pathLst>
                <a:path w="2041549" h="2041549">
                  <a:moveTo>
                    <a:pt x="71268" y="0"/>
                  </a:moveTo>
                  <a:lnTo>
                    <a:pt x="1970282" y="0"/>
                  </a:lnTo>
                  <a:cubicBezTo>
                    <a:pt x="1989183" y="0"/>
                    <a:pt x="2007310" y="7509"/>
                    <a:pt x="2020675" y="20874"/>
                  </a:cubicBezTo>
                  <a:cubicBezTo>
                    <a:pt x="2034041" y="34239"/>
                    <a:pt x="2041549" y="52366"/>
                    <a:pt x="2041549" y="71268"/>
                  </a:cubicBezTo>
                  <a:lnTo>
                    <a:pt x="2041549" y="1970282"/>
                  </a:lnTo>
                  <a:cubicBezTo>
                    <a:pt x="2041549" y="2009642"/>
                    <a:pt x="2009642" y="2041549"/>
                    <a:pt x="1970282" y="2041549"/>
                  </a:cubicBezTo>
                  <a:lnTo>
                    <a:pt x="71268" y="2041549"/>
                  </a:lnTo>
                  <a:cubicBezTo>
                    <a:pt x="31908" y="2041549"/>
                    <a:pt x="0" y="2009642"/>
                    <a:pt x="0" y="1970282"/>
                  </a:cubicBezTo>
                  <a:lnTo>
                    <a:pt x="0" y="71268"/>
                  </a:lnTo>
                  <a:cubicBezTo>
                    <a:pt x="0" y="31908"/>
                    <a:pt x="31908" y="0"/>
                    <a:pt x="71268" y="0"/>
                  </a:cubicBezTo>
                  <a:close/>
                </a:path>
              </a:pathLst>
            </a:custGeom>
            <a:solidFill>
              <a:srgbClr val="FFFFFF"/>
            </a:solidFill>
          </p:spPr>
          <p:txBody>
            <a:bodyPr/>
            <a:lstStyle/>
            <a:p>
              <a:endParaRPr lang="en-GB"/>
            </a:p>
          </p:txBody>
        </p:sp>
        <p:sp>
          <p:nvSpPr>
            <p:cNvPr id="17" name="TextBox 17"/>
            <p:cNvSpPr txBox="1"/>
            <p:nvPr/>
          </p:nvSpPr>
          <p:spPr>
            <a:xfrm>
              <a:off x="0" y="-47625"/>
              <a:ext cx="2041549" cy="2089174"/>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8624254" y="-2913686"/>
            <a:ext cx="13403282" cy="13403282"/>
            <a:chOff x="0" y="0"/>
            <a:chExt cx="812800" cy="812800"/>
          </a:xfrm>
        </p:grpSpPr>
        <p:sp>
          <p:nvSpPr>
            <p:cNvPr id="19" name="Freeform 19" descr="preencoded.png"/>
            <p:cNvSpPr/>
            <p:nvPr/>
          </p:nvSpPr>
          <p:spPr>
            <a:xfrm>
              <a:off x="14834" y="14834"/>
              <a:ext cx="783132" cy="783132"/>
            </a:xfrm>
            <a:custGeom>
              <a:avLst/>
              <a:gdLst/>
              <a:ahLst/>
              <a:cxnLst/>
              <a:rect l="l" t="t" r="r" b="b"/>
              <a:pathLst>
                <a:path w="783132" h="783132">
                  <a:moveTo>
                    <a:pt x="416889" y="10489"/>
                  </a:moveTo>
                  <a:lnTo>
                    <a:pt x="772643" y="366243"/>
                  </a:lnTo>
                  <a:cubicBezTo>
                    <a:pt x="779359" y="372959"/>
                    <a:pt x="783132" y="382068"/>
                    <a:pt x="783132" y="391566"/>
                  </a:cubicBezTo>
                  <a:cubicBezTo>
                    <a:pt x="783132" y="401064"/>
                    <a:pt x="779359" y="410173"/>
                    <a:pt x="772643" y="416889"/>
                  </a:cubicBezTo>
                  <a:lnTo>
                    <a:pt x="416889" y="772643"/>
                  </a:lnTo>
                  <a:cubicBezTo>
                    <a:pt x="410173" y="779359"/>
                    <a:pt x="401064" y="783132"/>
                    <a:pt x="391566" y="783132"/>
                  </a:cubicBezTo>
                  <a:cubicBezTo>
                    <a:pt x="382068" y="783132"/>
                    <a:pt x="372959" y="779359"/>
                    <a:pt x="366243" y="772643"/>
                  </a:cubicBezTo>
                  <a:lnTo>
                    <a:pt x="10489" y="416889"/>
                  </a:lnTo>
                  <a:cubicBezTo>
                    <a:pt x="3773" y="410173"/>
                    <a:pt x="0" y="401064"/>
                    <a:pt x="0" y="391566"/>
                  </a:cubicBezTo>
                  <a:cubicBezTo>
                    <a:pt x="0" y="382068"/>
                    <a:pt x="3773" y="372959"/>
                    <a:pt x="10489" y="366243"/>
                  </a:cubicBezTo>
                  <a:lnTo>
                    <a:pt x="366243" y="10489"/>
                  </a:lnTo>
                  <a:cubicBezTo>
                    <a:pt x="372959" y="3773"/>
                    <a:pt x="382068" y="0"/>
                    <a:pt x="391566" y="0"/>
                  </a:cubicBezTo>
                  <a:cubicBezTo>
                    <a:pt x="401064" y="0"/>
                    <a:pt x="410173" y="3773"/>
                    <a:pt x="416889" y="10489"/>
                  </a:cubicBezTo>
                  <a:close/>
                </a:path>
              </a:pathLst>
            </a:custGeom>
            <a:blipFill>
              <a:blip r:embed="rId4"/>
              <a:stretch>
                <a:fillRect t="-24999" b="-24999"/>
              </a:stretch>
            </a:blipFill>
          </p:spPr>
          <p:txBody>
            <a:bodyPr/>
            <a:lstStyle/>
            <a:p>
              <a:endParaRPr lang="en-GB"/>
            </a:p>
          </p:txBody>
        </p:sp>
      </p:grpSp>
      <p:sp>
        <p:nvSpPr>
          <p:cNvPr id="20" name="Freeform 20"/>
          <p:cNvSpPr/>
          <p:nvPr/>
        </p:nvSpPr>
        <p:spPr>
          <a:xfrm rot="8100000">
            <a:off x="7965362" y="10637768"/>
            <a:ext cx="5636927" cy="605970"/>
          </a:xfrm>
          <a:custGeom>
            <a:avLst/>
            <a:gdLst/>
            <a:ahLst/>
            <a:cxnLst/>
            <a:rect l="l" t="t" r="r" b="b"/>
            <a:pathLst>
              <a:path w="5636927" h="605970">
                <a:moveTo>
                  <a:pt x="0" y="0"/>
                </a:moveTo>
                <a:lnTo>
                  <a:pt x="5636927" y="0"/>
                </a:lnTo>
                <a:lnTo>
                  <a:pt x="5636927" y="605969"/>
                </a:lnTo>
                <a:lnTo>
                  <a:pt x="0" y="605969"/>
                </a:lnTo>
                <a:lnTo>
                  <a:pt x="0" y="0"/>
                </a:lnTo>
                <a:close/>
              </a:path>
            </a:pathLst>
          </a:custGeom>
          <a:blipFill>
            <a:blip r:embed="rId3"/>
            <a:stretch>
              <a:fillRect/>
            </a:stretch>
          </a:blipFill>
        </p:spPr>
        <p:txBody>
          <a:bodyPr/>
          <a:lstStyle/>
          <a:p>
            <a:endParaRPr lang="en-GB"/>
          </a:p>
        </p:txBody>
      </p:sp>
      <p:grpSp>
        <p:nvGrpSpPr>
          <p:cNvPr id="21" name="Group 21"/>
          <p:cNvGrpSpPr/>
          <p:nvPr/>
        </p:nvGrpSpPr>
        <p:grpSpPr>
          <a:xfrm rot="-2700000">
            <a:off x="10719628" y="6615897"/>
            <a:ext cx="10211745" cy="2440924"/>
            <a:chOff x="0" y="0"/>
            <a:chExt cx="3042837" cy="727333"/>
          </a:xfrm>
        </p:grpSpPr>
        <p:sp>
          <p:nvSpPr>
            <p:cNvPr id="22" name="Freeform 22"/>
            <p:cNvSpPr/>
            <p:nvPr/>
          </p:nvSpPr>
          <p:spPr>
            <a:xfrm>
              <a:off x="0" y="0"/>
              <a:ext cx="3042837" cy="727333"/>
            </a:xfrm>
            <a:custGeom>
              <a:avLst/>
              <a:gdLst/>
              <a:ahLst/>
              <a:cxnLst/>
              <a:rect l="l" t="t" r="r" b="b"/>
              <a:pathLst>
                <a:path w="3042837" h="727333">
                  <a:moveTo>
                    <a:pt x="0" y="0"/>
                  </a:moveTo>
                  <a:lnTo>
                    <a:pt x="3042837" y="0"/>
                  </a:lnTo>
                  <a:lnTo>
                    <a:pt x="3042837" y="727333"/>
                  </a:lnTo>
                  <a:lnTo>
                    <a:pt x="0" y="727333"/>
                  </a:lnTo>
                  <a:close/>
                </a:path>
              </a:pathLst>
            </a:custGeom>
            <a:solidFill>
              <a:srgbClr val="16599D"/>
            </a:solidFill>
          </p:spPr>
          <p:txBody>
            <a:bodyPr/>
            <a:lstStyle/>
            <a:p>
              <a:endParaRPr lang="en-GB"/>
            </a:p>
          </p:txBody>
        </p:sp>
        <p:sp>
          <p:nvSpPr>
            <p:cNvPr id="23" name="TextBox 23"/>
            <p:cNvSpPr txBox="1"/>
            <p:nvPr/>
          </p:nvSpPr>
          <p:spPr>
            <a:xfrm>
              <a:off x="0" y="-47625"/>
              <a:ext cx="3042837" cy="774958"/>
            </a:xfrm>
            <a:prstGeom prst="rect">
              <a:avLst/>
            </a:prstGeom>
          </p:spPr>
          <p:txBody>
            <a:bodyPr lIns="50800" tIns="50800" rIns="50800" bIns="50800" rtlCol="0" anchor="ctr"/>
            <a:lstStyle/>
            <a:p>
              <a:pPr algn="ctr">
                <a:lnSpc>
                  <a:spcPts val="2659"/>
                </a:lnSpc>
                <a:spcBef>
                  <a:spcPct val="0"/>
                </a:spcBef>
              </a:pPr>
              <a:endParaRPr/>
            </a:p>
          </p:txBody>
        </p:sp>
      </p:grpSp>
      <p:sp>
        <p:nvSpPr>
          <p:cNvPr id="24" name="Freeform 24"/>
          <p:cNvSpPr/>
          <p:nvPr/>
        </p:nvSpPr>
        <p:spPr>
          <a:xfrm rot="8100000">
            <a:off x="13721104" y="8138017"/>
            <a:ext cx="5636927" cy="605970"/>
          </a:xfrm>
          <a:custGeom>
            <a:avLst/>
            <a:gdLst/>
            <a:ahLst/>
            <a:cxnLst/>
            <a:rect l="l" t="t" r="r" b="b"/>
            <a:pathLst>
              <a:path w="5636927" h="605970">
                <a:moveTo>
                  <a:pt x="0" y="0"/>
                </a:moveTo>
                <a:lnTo>
                  <a:pt x="5636926" y="0"/>
                </a:lnTo>
                <a:lnTo>
                  <a:pt x="5636926" y="605970"/>
                </a:lnTo>
                <a:lnTo>
                  <a:pt x="0" y="605970"/>
                </a:lnTo>
                <a:lnTo>
                  <a:pt x="0" y="0"/>
                </a:lnTo>
                <a:close/>
              </a:path>
            </a:pathLst>
          </a:custGeom>
          <a:blipFill>
            <a:blip r:embed="rId3"/>
            <a:stretch>
              <a:fillRect/>
            </a:stretch>
          </a:blipFill>
        </p:spPr>
        <p:txBody>
          <a:bodyPr/>
          <a:lstStyle/>
          <a:p>
            <a:endParaRPr lang="en-GB"/>
          </a:p>
        </p:txBody>
      </p:sp>
      <p:grpSp>
        <p:nvGrpSpPr>
          <p:cNvPr id="25" name="Group 25"/>
          <p:cNvGrpSpPr/>
          <p:nvPr/>
        </p:nvGrpSpPr>
        <p:grpSpPr>
          <a:xfrm rot="-2700000">
            <a:off x="14773604" y="8138004"/>
            <a:ext cx="5641848" cy="2550578"/>
            <a:chOff x="0" y="0"/>
            <a:chExt cx="1681125" cy="760006"/>
          </a:xfrm>
        </p:grpSpPr>
        <p:sp>
          <p:nvSpPr>
            <p:cNvPr id="26" name="Freeform 26"/>
            <p:cNvSpPr/>
            <p:nvPr/>
          </p:nvSpPr>
          <p:spPr>
            <a:xfrm>
              <a:off x="0" y="0"/>
              <a:ext cx="1681125" cy="760006"/>
            </a:xfrm>
            <a:custGeom>
              <a:avLst/>
              <a:gdLst/>
              <a:ahLst/>
              <a:cxnLst/>
              <a:rect l="l" t="t" r="r" b="b"/>
              <a:pathLst>
                <a:path w="1681125" h="760006">
                  <a:moveTo>
                    <a:pt x="0" y="0"/>
                  </a:moveTo>
                  <a:lnTo>
                    <a:pt x="1681125" y="0"/>
                  </a:lnTo>
                  <a:lnTo>
                    <a:pt x="1681125" y="760006"/>
                  </a:lnTo>
                  <a:lnTo>
                    <a:pt x="0" y="760006"/>
                  </a:lnTo>
                  <a:close/>
                </a:path>
              </a:pathLst>
            </a:custGeom>
            <a:solidFill>
              <a:srgbClr val="2978C8"/>
            </a:solidFill>
          </p:spPr>
          <p:txBody>
            <a:bodyPr/>
            <a:lstStyle/>
            <a:p>
              <a:endParaRPr lang="en-GB"/>
            </a:p>
          </p:txBody>
        </p:sp>
        <p:sp>
          <p:nvSpPr>
            <p:cNvPr id="27" name="TextBox 27"/>
            <p:cNvSpPr txBox="1"/>
            <p:nvPr/>
          </p:nvSpPr>
          <p:spPr>
            <a:xfrm>
              <a:off x="0" y="-47625"/>
              <a:ext cx="1681125" cy="807631"/>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rot="-10800000">
            <a:off x="1086673" y="8597648"/>
            <a:ext cx="934250" cy="106173"/>
            <a:chOff x="0" y="0"/>
            <a:chExt cx="278383" cy="31637"/>
          </a:xfrm>
        </p:grpSpPr>
        <p:sp>
          <p:nvSpPr>
            <p:cNvPr id="29" name="Freeform 29"/>
            <p:cNvSpPr/>
            <p:nvPr/>
          </p:nvSpPr>
          <p:spPr>
            <a:xfrm>
              <a:off x="0" y="0"/>
              <a:ext cx="278383" cy="31637"/>
            </a:xfrm>
            <a:custGeom>
              <a:avLst/>
              <a:gdLst/>
              <a:ahLst/>
              <a:cxnLst/>
              <a:rect l="l" t="t" r="r" b="b"/>
              <a:pathLst>
                <a:path w="278383" h="31637">
                  <a:moveTo>
                    <a:pt x="15818" y="0"/>
                  </a:moveTo>
                  <a:lnTo>
                    <a:pt x="262564" y="0"/>
                  </a:lnTo>
                  <a:cubicBezTo>
                    <a:pt x="266759" y="0"/>
                    <a:pt x="270783" y="1667"/>
                    <a:pt x="273749" y="4633"/>
                  </a:cubicBezTo>
                  <a:cubicBezTo>
                    <a:pt x="276716" y="7600"/>
                    <a:pt x="278383" y="11623"/>
                    <a:pt x="278383" y="15818"/>
                  </a:cubicBezTo>
                  <a:lnTo>
                    <a:pt x="278383" y="15818"/>
                  </a:lnTo>
                  <a:cubicBezTo>
                    <a:pt x="278383" y="24555"/>
                    <a:pt x="271300" y="31637"/>
                    <a:pt x="262564" y="31637"/>
                  </a:cubicBezTo>
                  <a:lnTo>
                    <a:pt x="15818" y="31637"/>
                  </a:lnTo>
                  <a:cubicBezTo>
                    <a:pt x="11623" y="31637"/>
                    <a:pt x="7600" y="29970"/>
                    <a:pt x="4633" y="27004"/>
                  </a:cubicBezTo>
                  <a:cubicBezTo>
                    <a:pt x="1667" y="24037"/>
                    <a:pt x="0" y="20014"/>
                    <a:pt x="0" y="15818"/>
                  </a:cubicBezTo>
                  <a:lnTo>
                    <a:pt x="0" y="15818"/>
                  </a:lnTo>
                  <a:cubicBezTo>
                    <a:pt x="0" y="11623"/>
                    <a:pt x="1667" y="7600"/>
                    <a:pt x="4633" y="4633"/>
                  </a:cubicBezTo>
                  <a:cubicBezTo>
                    <a:pt x="7600" y="1667"/>
                    <a:pt x="11623" y="0"/>
                    <a:pt x="15818" y="0"/>
                  </a:cubicBezTo>
                  <a:close/>
                </a:path>
              </a:pathLst>
            </a:custGeom>
            <a:solidFill>
              <a:srgbClr val="2978C8"/>
            </a:solidFill>
          </p:spPr>
          <p:txBody>
            <a:bodyPr/>
            <a:lstStyle/>
            <a:p>
              <a:endParaRPr lang="en-GB"/>
            </a:p>
          </p:txBody>
        </p:sp>
        <p:sp>
          <p:nvSpPr>
            <p:cNvPr id="30" name="TextBox 30"/>
            <p:cNvSpPr txBox="1"/>
            <p:nvPr/>
          </p:nvSpPr>
          <p:spPr>
            <a:xfrm>
              <a:off x="0" y="-47625"/>
              <a:ext cx="278383" cy="79262"/>
            </a:xfrm>
            <a:prstGeom prst="rect">
              <a:avLst/>
            </a:prstGeom>
          </p:spPr>
          <p:txBody>
            <a:bodyPr lIns="50800" tIns="50800" rIns="50800" bIns="50800" rtlCol="0" anchor="ctr"/>
            <a:lstStyle/>
            <a:p>
              <a:pPr algn="ctr">
                <a:lnSpc>
                  <a:spcPts val="2659"/>
                </a:lnSpc>
                <a:spcBef>
                  <a:spcPct val="0"/>
                </a:spcBef>
              </a:pPr>
              <a:endParaRPr/>
            </a:p>
          </p:txBody>
        </p:sp>
      </p:grpSp>
      <p:grpSp>
        <p:nvGrpSpPr>
          <p:cNvPr id="31" name="Group 31"/>
          <p:cNvGrpSpPr/>
          <p:nvPr/>
        </p:nvGrpSpPr>
        <p:grpSpPr>
          <a:xfrm rot="-10800000">
            <a:off x="2116173" y="8597648"/>
            <a:ext cx="312889" cy="106173"/>
            <a:chOff x="0" y="0"/>
            <a:chExt cx="93233" cy="31637"/>
          </a:xfrm>
        </p:grpSpPr>
        <p:sp>
          <p:nvSpPr>
            <p:cNvPr id="32" name="Freeform 32"/>
            <p:cNvSpPr/>
            <p:nvPr/>
          </p:nvSpPr>
          <p:spPr>
            <a:xfrm>
              <a:off x="0" y="0"/>
              <a:ext cx="93233" cy="31637"/>
            </a:xfrm>
            <a:custGeom>
              <a:avLst/>
              <a:gdLst/>
              <a:ahLst/>
              <a:cxnLst/>
              <a:rect l="l" t="t" r="r" b="b"/>
              <a:pathLst>
                <a:path w="93233" h="31637">
                  <a:moveTo>
                    <a:pt x="15818" y="0"/>
                  </a:moveTo>
                  <a:lnTo>
                    <a:pt x="77415" y="0"/>
                  </a:lnTo>
                  <a:cubicBezTo>
                    <a:pt x="86151" y="0"/>
                    <a:pt x="93233" y="7082"/>
                    <a:pt x="93233" y="15818"/>
                  </a:cubicBezTo>
                  <a:lnTo>
                    <a:pt x="93233" y="15818"/>
                  </a:lnTo>
                  <a:cubicBezTo>
                    <a:pt x="93233" y="20014"/>
                    <a:pt x="91566" y="24037"/>
                    <a:pt x="88600" y="27004"/>
                  </a:cubicBezTo>
                  <a:cubicBezTo>
                    <a:pt x="85633" y="29970"/>
                    <a:pt x="81610" y="31637"/>
                    <a:pt x="77415" y="31637"/>
                  </a:cubicBezTo>
                  <a:lnTo>
                    <a:pt x="15818" y="31637"/>
                  </a:lnTo>
                  <a:cubicBezTo>
                    <a:pt x="11623" y="31637"/>
                    <a:pt x="7600" y="29970"/>
                    <a:pt x="4633" y="27004"/>
                  </a:cubicBezTo>
                  <a:cubicBezTo>
                    <a:pt x="1667" y="24037"/>
                    <a:pt x="0" y="20014"/>
                    <a:pt x="0" y="15818"/>
                  </a:cubicBezTo>
                  <a:lnTo>
                    <a:pt x="0" y="15818"/>
                  </a:lnTo>
                  <a:cubicBezTo>
                    <a:pt x="0" y="11623"/>
                    <a:pt x="1667" y="7600"/>
                    <a:pt x="4633" y="4633"/>
                  </a:cubicBezTo>
                  <a:cubicBezTo>
                    <a:pt x="7600" y="1667"/>
                    <a:pt x="11623" y="0"/>
                    <a:pt x="15818" y="0"/>
                  </a:cubicBezTo>
                  <a:close/>
                </a:path>
              </a:pathLst>
            </a:custGeom>
            <a:solidFill>
              <a:srgbClr val="292A2B"/>
            </a:solidFill>
          </p:spPr>
          <p:txBody>
            <a:bodyPr/>
            <a:lstStyle/>
            <a:p>
              <a:endParaRPr lang="en-GB"/>
            </a:p>
          </p:txBody>
        </p:sp>
        <p:sp>
          <p:nvSpPr>
            <p:cNvPr id="33" name="TextBox 33"/>
            <p:cNvSpPr txBox="1"/>
            <p:nvPr/>
          </p:nvSpPr>
          <p:spPr>
            <a:xfrm>
              <a:off x="0" y="-47625"/>
              <a:ext cx="93233" cy="79262"/>
            </a:xfrm>
            <a:prstGeom prst="rect">
              <a:avLst/>
            </a:prstGeom>
          </p:spPr>
          <p:txBody>
            <a:bodyPr lIns="50800" tIns="50800" rIns="50800" bIns="50800" rtlCol="0" anchor="ctr"/>
            <a:lstStyle/>
            <a:p>
              <a:pPr algn="ctr">
                <a:lnSpc>
                  <a:spcPts val="2659"/>
                </a:lnSpc>
                <a:spcBef>
                  <a:spcPct val="0"/>
                </a:spcBef>
              </a:pPr>
              <a:endParaRPr/>
            </a:p>
          </p:txBody>
        </p:sp>
      </p:grpSp>
      <p:sp>
        <p:nvSpPr>
          <p:cNvPr id="34" name="TextBox 34"/>
          <p:cNvSpPr txBox="1"/>
          <p:nvPr/>
        </p:nvSpPr>
        <p:spPr>
          <a:xfrm>
            <a:off x="1086673" y="3147494"/>
            <a:ext cx="6615789" cy="3110230"/>
          </a:xfrm>
          <a:prstGeom prst="rect">
            <a:avLst/>
          </a:prstGeom>
        </p:spPr>
        <p:txBody>
          <a:bodyPr lIns="0" tIns="0" rIns="0" bIns="0" rtlCol="0" anchor="t">
            <a:spAutoFit/>
          </a:bodyPr>
          <a:lstStyle/>
          <a:p>
            <a:pPr algn="l">
              <a:lnSpc>
                <a:spcPts val="6050"/>
              </a:lnSpc>
            </a:pPr>
            <a:r>
              <a:rPr lang="en-US" sz="5500" b="1">
                <a:solidFill>
                  <a:srgbClr val="16599D"/>
                </a:solidFill>
                <a:latin typeface="Helios Bold"/>
                <a:ea typeface="Helios Bold"/>
                <a:cs typeface="Helios Bold"/>
                <a:sym typeface="Helios Bold"/>
              </a:rPr>
              <a:t>PHÁT HIỆN VÀ THEO DÕI CHUYỂN ĐỘNG ĐỂ ĐẾM SỐ NGƯỜI QUA CỔNG</a:t>
            </a:r>
          </a:p>
        </p:txBody>
      </p:sp>
      <p:sp>
        <p:nvSpPr>
          <p:cNvPr id="35" name="TextBox 35"/>
          <p:cNvSpPr txBox="1"/>
          <p:nvPr/>
        </p:nvSpPr>
        <p:spPr>
          <a:xfrm>
            <a:off x="1086673" y="6587862"/>
            <a:ext cx="8115300" cy="606426"/>
          </a:xfrm>
          <a:prstGeom prst="rect">
            <a:avLst/>
          </a:prstGeom>
        </p:spPr>
        <p:txBody>
          <a:bodyPr lIns="0" tIns="0" rIns="0" bIns="0" rtlCol="0" anchor="t">
            <a:spAutoFit/>
          </a:bodyPr>
          <a:lstStyle/>
          <a:p>
            <a:pPr algn="l">
              <a:lnSpc>
                <a:spcPts val="4899"/>
              </a:lnSpc>
              <a:spcBef>
                <a:spcPct val="0"/>
              </a:spcBef>
            </a:pPr>
            <a:r>
              <a:rPr lang="en-US" sz="3499">
                <a:solidFill>
                  <a:srgbClr val="292A2B"/>
                </a:solidFill>
                <a:latin typeface="Helios"/>
                <a:ea typeface="Helios"/>
                <a:cs typeface="Helios"/>
                <a:sym typeface="Helios"/>
              </a:rPr>
              <a:t>NHÓM 02</a:t>
            </a:r>
          </a:p>
        </p:txBody>
      </p:sp>
      <p:sp>
        <p:nvSpPr>
          <p:cNvPr id="36" name="Freeform 36"/>
          <p:cNvSpPr/>
          <p:nvPr/>
        </p:nvSpPr>
        <p:spPr>
          <a:xfrm>
            <a:off x="308099" y="278890"/>
            <a:ext cx="1557147" cy="1546518"/>
          </a:xfrm>
          <a:custGeom>
            <a:avLst/>
            <a:gdLst/>
            <a:ahLst/>
            <a:cxnLst/>
            <a:rect l="l" t="t" r="r" b="b"/>
            <a:pathLst>
              <a:path w="1557147" h="1546518">
                <a:moveTo>
                  <a:pt x="0" y="0"/>
                </a:moveTo>
                <a:lnTo>
                  <a:pt x="1557147" y="0"/>
                </a:lnTo>
                <a:lnTo>
                  <a:pt x="1557147" y="1546518"/>
                </a:lnTo>
                <a:lnTo>
                  <a:pt x="0" y="1546518"/>
                </a:lnTo>
                <a:lnTo>
                  <a:pt x="0" y="0"/>
                </a:lnTo>
                <a:close/>
              </a:path>
            </a:pathLst>
          </a:custGeom>
          <a:blipFill>
            <a:blip r:embed="rId5"/>
            <a:stretch>
              <a:fillRect/>
            </a:stretch>
          </a:blipFill>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170FF"/>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GB"/>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txBody>
            <a:bodyPr/>
            <a:lstStyle/>
            <a:p>
              <a:endParaRPr lang="en-GB"/>
            </a:p>
          </p:txBody>
        </p:sp>
      </p:grpSp>
      <p:grpSp>
        <p:nvGrpSpPr>
          <p:cNvPr id="6" name="Group 6"/>
          <p:cNvGrpSpPr>
            <a:grpSpLocks noChangeAspect="1"/>
          </p:cNvGrpSpPr>
          <p:nvPr/>
        </p:nvGrpSpPr>
        <p:grpSpPr>
          <a:xfrm>
            <a:off x="0" y="0"/>
            <a:ext cx="18288000" cy="3544044"/>
            <a:chOff x="0" y="0"/>
            <a:chExt cx="24384000" cy="4725392"/>
          </a:xfrm>
        </p:grpSpPr>
        <p:sp>
          <p:nvSpPr>
            <p:cNvPr id="7" name="Freeform 7" descr="preencoded.png"/>
            <p:cNvSpPr/>
            <p:nvPr/>
          </p:nvSpPr>
          <p:spPr>
            <a:xfrm>
              <a:off x="0" y="0"/>
              <a:ext cx="24384000" cy="4725416"/>
            </a:xfrm>
            <a:custGeom>
              <a:avLst/>
              <a:gdLst/>
              <a:ahLst/>
              <a:cxnLst/>
              <a:rect l="l" t="t" r="r" b="b"/>
              <a:pathLst>
                <a:path w="24384000" h="4725416">
                  <a:moveTo>
                    <a:pt x="0" y="0"/>
                  </a:moveTo>
                  <a:lnTo>
                    <a:pt x="24384000" y="0"/>
                  </a:lnTo>
                  <a:lnTo>
                    <a:pt x="24384000" y="4725416"/>
                  </a:lnTo>
                  <a:lnTo>
                    <a:pt x="0" y="4725416"/>
                  </a:lnTo>
                  <a:lnTo>
                    <a:pt x="0" y="0"/>
                  </a:lnTo>
                  <a:close/>
                </a:path>
              </a:pathLst>
            </a:custGeom>
            <a:blipFill>
              <a:blip r:embed="rId4"/>
              <a:stretch>
                <a:fillRect l="-10" r="-10"/>
              </a:stretch>
            </a:blipFill>
          </p:spPr>
          <p:txBody>
            <a:bodyPr/>
            <a:lstStyle/>
            <a:p>
              <a:endParaRPr lang="en-GB"/>
            </a:p>
          </p:txBody>
        </p:sp>
      </p:grpSp>
      <p:sp>
        <p:nvSpPr>
          <p:cNvPr id="8" name="TextBox 8"/>
          <p:cNvSpPr txBox="1"/>
          <p:nvPr/>
        </p:nvSpPr>
        <p:spPr>
          <a:xfrm>
            <a:off x="992237" y="4751337"/>
            <a:ext cx="5954166" cy="745808"/>
          </a:xfrm>
          <a:prstGeom prst="rect">
            <a:avLst/>
          </a:prstGeom>
        </p:spPr>
        <p:txBody>
          <a:bodyPr lIns="0" tIns="0" rIns="0" bIns="0" rtlCol="0" anchor="t">
            <a:spAutoFit/>
          </a:bodyPr>
          <a:lstStyle/>
          <a:p>
            <a:pPr algn="l">
              <a:lnSpc>
                <a:spcPts val="5812"/>
              </a:lnSpc>
            </a:pPr>
            <a:r>
              <a:rPr lang="en-US" sz="4687" b="1">
                <a:solidFill>
                  <a:srgbClr val="000000"/>
                </a:solidFill>
                <a:latin typeface="Helios Bold"/>
                <a:ea typeface="Helios Bold"/>
                <a:cs typeface="Helios Bold"/>
                <a:sym typeface="Helios Bold"/>
              </a:rPr>
              <a:t>I. GIỚI THIỆU ĐỀ TÀI</a:t>
            </a:r>
          </a:p>
        </p:txBody>
      </p:sp>
      <p:sp>
        <p:nvSpPr>
          <p:cNvPr id="9" name="TextBox 9"/>
          <p:cNvSpPr txBox="1"/>
          <p:nvPr/>
        </p:nvSpPr>
        <p:spPr>
          <a:xfrm>
            <a:off x="992237" y="6204348"/>
            <a:ext cx="5274600" cy="463550"/>
          </a:xfrm>
          <a:prstGeom prst="rect">
            <a:avLst/>
          </a:prstGeom>
        </p:spPr>
        <p:txBody>
          <a:bodyPr lIns="0" tIns="0" rIns="0" bIns="0" rtlCol="0" anchor="t">
            <a:spAutoFit/>
          </a:bodyPr>
          <a:lstStyle/>
          <a:p>
            <a:pPr algn="l">
              <a:lnSpc>
                <a:spcPts val="3625"/>
              </a:lnSpc>
            </a:pPr>
            <a:r>
              <a:rPr lang="en-US" sz="2874" b="1">
                <a:solidFill>
                  <a:srgbClr val="000000"/>
                </a:solidFill>
                <a:latin typeface="Helios Bold"/>
                <a:ea typeface="Helios Bold"/>
                <a:cs typeface="Helios Bold"/>
                <a:sym typeface="Helios Bold"/>
              </a:rPr>
              <a:t>Vấn Đề Cần Giải Quyết</a:t>
            </a:r>
          </a:p>
        </p:txBody>
      </p:sp>
      <p:sp>
        <p:nvSpPr>
          <p:cNvPr id="10" name="TextBox 10"/>
          <p:cNvSpPr txBox="1"/>
          <p:nvPr/>
        </p:nvSpPr>
        <p:spPr>
          <a:xfrm>
            <a:off x="992238" y="6867227"/>
            <a:ext cx="7238571" cy="2045367"/>
          </a:xfrm>
          <a:prstGeom prst="rect">
            <a:avLst/>
          </a:prstGeom>
        </p:spPr>
        <p:txBody>
          <a:bodyPr lIns="0" tIns="0" rIns="0" bIns="0" rtlCol="0" anchor="t">
            <a:spAutoFit/>
          </a:bodyPr>
          <a:lstStyle/>
          <a:p>
            <a:pPr algn="l">
              <a:lnSpc>
                <a:spcPts val="4115"/>
              </a:lnSpc>
            </a:pPr>
            <a:r>
              <a:rPr lang="en-US" sz="2526">
                <a:solidFill>
                  <a:srgbClr val="272525"/>
                </a:solidFill>
                <a:latin typeface="Inter"/>
                <a:ea typeface="Inter"/>
                <a:cs typeface="Inter"/>
                <a:sym typeface="Inter"/>
              </a:rPr>
              <a:t>Việc đếm thủ công lưu lượng người qua các cổng vào, cửa hàng, sự kiện tốn thời gian, công sức và dễ xảy ra sai sót. Cần một giải pháp tự động, chính xác và hiệu quả về chi phí.</a:t>
            </a:r>
          </a:p>
        </p:txBody>
      </p:sp>
      <p:sp>
        <p:nvSpPr>
          <p:cNvPr id="11" name="TextBox 11"/>
          <p:cNvSpPr txBox="1"/>
          <p:nvPr/>
        </p:nvSpPr>
        <p:spPr>
          <a:xfrm>
            <a:off x="9499401" y="6204347"/>
            <a:ext cx="3721299" cy="463550"/>
          </a:xfrm>
          <a:prstGeom prst="rect">
            <a:avLst/>
          </a:prstGeom>
        </p:spPr>
        <p:txBody>
          <a:bodyPr lIns="0" tIns="0" rIns="0" bIns="0" rtlCol="0" anchor="t">
            <a:spAutoFit/>
          </a:bodyPr>
          <a:lstStyle/>
          <a:p>
            <a:pPr algn="l">
              <a:lnSpc>
                <a:spcPts val="3625"/>
              </a:lnSpc>
            </a:pPr>
            <a:r>
              <a:rPr lang="en-US" sz="2874" b="1">
                <a:solidFill>
                  <a:srgbClr val="000000"/>
                </a:solidFill>
                <a:latin typeface="Helios Bold"/>
                <a:ea typeface="Helios Bold"/>
                <a:cs typeface="Helios Bold"/>
                <a:sym typeface="Helios Bold"/>
              </a:rPr>
              <a:t>Mục Tiêu Đề Tài</a:t>
            </a:r>
          </a:p>
        </p:txBody>
      </p:sp>
      <p:sp>
        <p:nvSpPr>
          <p:cNvPr id="12" name="TextBox 12"/>
          <p:cNvSpPr txBox="1"/>
          <p:nvPr/>
        </p:nvSpPr>
        <p:spPr>
          <a:xfrm>
            <a:off x="9499401" y="6867227"/>
            <a:ext cx="8022734" cy="2570173"/>
          </a:xfrm>
          <a:prstGeom prst="rect">
            <a:avLst/>
          </a:prstGeom>
        </p:spPr>
        <p:txBody>
          <a:bodyPr lIns="0" tIns="0" rIns="0" bIns="0" rtlCol="0" anchor="t">
            <a:spAutoFit/>
          </a:bodyPr>
          <a:lstStyle/>
          <a:p>
            <a:pPr algn="l">
              <a:lnSpc>
                <a:spcPts val="4128"/>
              </a:lnSpc>
            </a:pPr>
            <a:r>
              <a:rPr lang="en-US" sz="2534">
                <a:solidFill>
                  <a:srgbClr val="272525"/>
                </a:solidFill>
                <a:latin typeface="Inter"/>
                <a:ea typeface="Inter"/>
                <a:cs typeface="Inter"/>
                <a:sym typeface="Inter"/>
              </a:rPr>
              <a:t>Xây dựng chương trình tự động có khả năng phát hiện người, theo dõi từng cá nhân với ID duy nhất, cho phép người dùng định nghĩa đường ranh giới ảo, và đếm số lượt người vượt qua ranh giới đó một cách chính xác.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GB"/>
            </a:p>
          </p:txBody>
        </p:sp>
      </p:grpSp>
      <p:grpSp>
        <p:nvGrpSpPr>
          <p:cNvPr id="4" name="Group 4"/>
          <p:cNvGrpSpPr/>
          <p:nvPr/>
        </p:nvGrpSpPr>
        <p:grpSpPr>
          <a:xfrm>
            <a:off x="-1028700" y="-331247"/>
            <a:ext cx="18288000" cy="10618247"/>
            <a:chOff x="0" y="0"/>
            <a:chExt cx="24384000" cy="14157663"/>
          </a:xfrm>
        </p:grpSpPr>
        <p:sp>
          <p:nvSpPr>
            <p:cNvPr id="5" name="Freeform 5"/>
            <p:cNvSpPr/>
            <p:nvPr/>
          </p:nvSpPr>
          <p:spPr>
            <a:xfrm>
              <a:off x="0" y="0"/>
              <a:ext cx="24384000" cy="14157663"/>
            </a:xfrm>
            <a:custGeom>
              <a:avLst/>
              <a:gdLst/>
              <a:ahLst/>
              <a:cxnLst/>
              <a:rect l="l" t="t" r="r" b="b"/>
              <a:pathLst>
                <a:path w="24384000" h="14157663">
                  <a:moveTo>
                    <a:pt x="0" y="0"/>
                  </a:moveTo>
                  <a:lnTo>
                    <a:pt x="24384000" y="0"/>
                  </a:lnTo>
                  <a:lnTo>
                    <a:pt x="24384000" y="14157663"/>
                  </a:lnTo>
                  <a:lnTo>
                    <a:pt x="0" y="14157663"/>
                  </a:lnTo>
                  <a:close/>
                </a:path>
              </a:pathLst>
            </a:custGeom>
            <a:solidFill>
              <a:srgbClr val="FFFFFF">
                <a:alpha val="90196"/>
              </a:srgbClr>
            </a:solidFill>
          </p:spPr>
          <p:txBody>
            <a:bodyPr/>
            <a:lstStyle/>
            <a:p>
              <a:endParaRPr lang="en-GB"/>
            </a:p>
          </p:txBody>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txBody>
            <a:bodyPr/>
            <a:lstStyle/>
            <a:p>
              <a:endParaRPr lang="en-GB"/>
            </a:p>
          </p:txBody>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txBody>
            <a:bodyPr/>
            <a:lstStyle/>
            <a:p>
              <a:endParaRPr lang="en-GB"/>
            </a:p>
          </p:txBody>
        </p:sp>
      </p:grpSp>
      <p:sp>
        <p:nvSpPr>
          <p:cNvPr id="10" name="TextBox 10"/>
          <p:cNvSpPr txBox="1"/>
          <p:nvPr/>
        </p:nvSpPr>
        <p:spPr>
          <a:xfrm>
            <a:off x="1028700" y="540296"/>
            <a:ext cx="9515475" cy="1335087"/>
          </a:xfrm>
          <a:prstGeom prst="rect">
            <a:avLst/>
          </a:prstGeom>
        </p:spPr>
        <p:txBody>
          <a:bodyPr lIns="0" tIns="0" rIns="0" bIns="0" rtlCol="0" anchor="t">
            <a:spAutoFit/>
          </a:bodyPr>
          <a:lstStyle/>
          <a:p>
            <a:pPr algn="l">
              <a:lnSpc>
                <a:spcPts val="5312"/>
              </a:lnSpc>
            </a:pPr>
            <a:r>
              <a:rPr lang="en-US" sz="4250" b="1">
                <a:solidFill>
                  <a:srgbClr val="000000"/>
                </a:solidFill>
                <a:latin typeface="Helios Bold"/>
                <a:ea typeface="Helios Bold"/>
                <a:cs typeface="Helios Bold"/>
                <a:sym typeface="Helios Bold"/>
              </a:rPr>
              <a:t>II. CƠ SỞ LÝ THUYẾT: THỊ GIÁC MÁY TÍNH</a:t>
            </a:r>
          </a:p>
        </p:txBody>
      </p:sp>
      <p:grpSp>
        <p:nvGrpSpPr>
          <p:cNvPr id="11" name="Group 11"/>
          <p:cNvGrpSpPr/>
          <p:nvPr/>
        </p:nvGrpSpPr>
        <p:grpSpPr>
          <a:xfrm>
            <a:off x="885825" y="2446884"/>
            <a:ext cx="9658350" cy="1998910"/>
            <a:chOff x="0" y="0"/>
            <a:chExt cx="12877800" cy="2665213"/>
          </a:xfrm>
        </p:grpSpPr>
        <p:sp>
          <p:nvSpPr>
            <p:cNvPr id="12" name="Freeform 12"/>
            <p:cNvSpPr/>
            <p:nvPr/>
          </p:nvSpPr>
          <p:spPr>
            <a:xfrm>
              <a:off x="19050" y="19050"/>
              <a:ext cx="12839700" cy="2627122"/>
            </a:xfrm>
            <a:custGeom>
              <a:avLst/>
              <a:gdLst/>
              <a:ahLst/>
              <a:cxnLst/>
              <a:rect l="l" t="t" r="r" b="b"/>
              <a:pathLst>
                <a:path w="12839700" h="2627122">
                  <a:moveTo>
                    <a:pt x="0" y="144018"/>
                  </a:moveTo>
                  <a:cubicBezTo>
                    <a:pt x="0" y="64516"/>
                    <a:pt x="65278" y="0"/>
                    <a:pt x="145669" y="0"/>
                  </a:cubicBezTo>
                  <a:lnTo>
                    <a:pt x="12694031" y="0"/>
                  </a:lnTo>
                  <a:cubicBezTo>
                    <a:pt x="12774422" y="0"/>
                    <a:pt x="12839700" y="64516"/>
                    <a:pt x="12839700" y="144018"/>
                  </a:cubicBezTo>
                  <a:lnTo>
                    <a:pt x="12839700" y="2483104"/>
                  </a:lnTo>
                  <a:cubicBezTo>
                    <a:pt x="12839700" y="2562606"/>
                    <a:pt x="12774422" y="2627122"/>
                    <a:pt x="12694031" y="2627122"/>
                  </a:cubicBezTo>
                  <a:lnTo>
                    <a:pt x="145669" y="2627122"/>
                  </a:lnTo>
                  <a:cubicBezTo>
                    <a:pt x="65278" y="2627122"/>
                    <a:pt x="0" y="2562606"/>
                    <a:pt x="0" y="2483104"/>
                  </a:cubicBezTo>
                  <a:close/>
                </a:path>
              </a:pathLst>
            </a:custGeom>
            <a:solidFill>
              <a:srgbClr val="FFFFFF">
                <a:alpha val="90196"/>
              </a:srgbClr>
            </a:solidFill>
          </p:spPr>
          <p:txBody>
            <a:bodyPr/>
            <a:lstStyle/>
            <a:p>
              <a:endParaRPr lang="en-GB"/>
            </a:p>
          </p:txBody>
        </p:sp>
        <p:sp>
          <p:nvSpPr>
            <p:cNvPr id="13" name="Freeform 13"/>
            <p:cNvSpPr/>
            <p:nvPr/>
          </p:nvSpPr>
          <p:spPr>
            <a:xfrm>
              <a:off x="0" y="0"/>
              <a:ext cx="12877800" cy="2665222"/>
            </a:xfrm>
            <a:custGeom>
              <a:avLst/>
              <a:gdLst/>
              <a:ahLst/>
              <a:cxnLst/>
              <a:rect l="l" t="t" r="r" b="b"/>
              <a:pathLst>
                <a:path w="12877800" h="2665222">
                  <a:moveTo>
                    <a:pt x="0" y="163068"/>
                  </a:moveTo>
                  <a:cubicBezTo>
                    <a:pt x="0" y="72771"/>
                    <a:pt x="73914" y="0"/>
                    <a:pt x="164719" y="0"/>
                  </a:cubicBezTo>
                  <a:lnTo>
                    <a:pt x="12713081" y="0"/>
                  </a:lnTo>
                  <a:lnTo>
                    <a:pt x="12713081" y="19050"/>
                  </a:lnTo>
                  <a:lnTo>
                    <a:pt x="12713081" y="0"/>
                  </a:lnTo>
                  <a:cubicBezTo>
                    <a:pt x="12803886" y="0"/>
                    <a:pt x="12877800" y="72771"/>
                    <a:pt x="12877800" y="163068"/>
                  </a:cubicBezTo>
                  <a:lnTo>
                    <a:pt x="12858750" y="163068"/>
                  </a:lnTo>
                  <a:lnTo>
                    <a:pt x="12877800" y="163068"/>
                  </a:lnTo>
                  <a:lnTo>
                    <a:pt x="12877800" y="2502154"/>
                  </a:lnTo>
                  <a:lnTo>
                    <a:pt x="12858750" y="2502154"/>
                  </a:lnTo>
                  <a:lnTo>
                    <a:pt x="12877800" y="2502154"/>
                  </a:lnTo>
                  <a:cubicBezTo>
                    <a:pt x="12877800" y="2592451"/>
                    <a:pt x="12803886" y="2665222"/>
                    <a:pt x="12713081" y="2665222"/>
                  </a:cubicBezTo>
                  <a:lnTo>
                    <a:pt x="12713081" y="2646172"/>
                  </a:lnTo>
                  <a:lnTo>
                    <a:pt x="12713081" y="2665222"/>
                  </a:lnTo>
                  <a:lnTo>
                    <a:pt x="164719" y="2665222"/>
                  </a:lnTo>
                  <a:lnTo>
                    <a:pt x="164719" y="2646172"/>
                  </a:lnTo>
                  <a:lnTo>
                    <a:pt x="164719" y="2665222"/>
                  </a:lnTo>
                  <a:cubicBezTo>
                    <a:pt x="73914" y="2665222"/>
                    <a:pt x="0" y="2592451"/>
                    <a:pt x="0" y="2502154"/>
                  </a:cubicBezTo>
                  <a:lnTo>
                    <a:pt x="0" y="163068"/>
                  </a:lnTo>
                  <a:lnTo>
                    <a:pt x="19050" y="163068"/>
                  </a:lnTo>
                  <a:lnTo>
                    <a:pt x="0" y="163068"/>
                  </a:lnTo>
                  <a:moveTo>
                    <a:pt x="38100" y="163068"/>
                  </a:moveTo>
                  <a:lnTo>
                    <a:pt x="38100" y="2502154"/>
                  </a:lnTo>
                  <a:lnTo>
                    <a:pt x="19050" y="2502154"/>
                  </a:lnTo>
                  <a:lnTo>
                    <a:pt x="38100" y="2502154"/>
                  </a:lnTo>
                  <a:cubicBezTo>
                    <a:pt x="38100" y="2570988"/>
                    <a:pt x="94615" y="2627122"/>
                    <a:pt x="164719" y="2627122"/>
                  </a:cubicBezTo>
                  <a:lnTo>
                    <a:pt x="12713081" y="2627122"/>
                  </a:lnTo>
                  <a:cubicBezTo>
                    <a:pt x="12783185" y="2627122"/>
                    <a:pt x="12839700" y="2570988"/>
                    <a:pt x="12839700" y="2502154"/>
                  </a:cubicBezTo>
                  <a:lnTo>
                    <a:pt x="12839700" y="163068"/>
                  </a:lnTo>
                  <a:cubicBezTo>
                    <a:pt x="12839700" y="94234"/>
                    <a:pt x="12783185" y="38100"/>
                    <a:pt x="12713081" y="38100"/>
                  </a:cubicBezTo>
                  <a:lnTo>
                    <a:pt x="164719" y="38100"/>
                  </a:lnTo>
                  <a:lnTo>
                    <a:pt x="164719" y="19050"/>
                  </a:lnTo>
                  <a:lnTo>
                    <a:pt x="164719" y="38100"/>
                  </a:lnTo>
                  <a:cubicBezTo>
                    <a:pt x="94615" y="38100"/>
                    <a:pt x="38100" y="94234"/>
                    <a:pt x="38100" y="163068"/>
                  </a:cubicBezTo>
                  <a:close/>
                </a:path>
              </a:pathLst>
            </a:custGeom>
            <a:solidFill>
              <a:srgbClr val="B2D4E5"/>
            </a:solidFill>
          </p:spPr>
          <p:txBody>
            <a:bodyPr/>
            <a:lstStyle/>
            <a:p>
              <a:endParaRPr lang="en-GB"/>
            </a:p>
          </p:txBody>
        </p:sp>
      </p:grpSp>
      <p:grpSp>
        <p:nvGrpSpPr>
          <p:cNvPr id="14" name="Group 14"/>
          <p:cNvGrpSpPr/>
          <p:nvPr/>
        </p:nvGrpSpPr>
        <p:grpSpPr>
          <a:xfrm>
            <a:off x="928687" y="2489746"/>
            <a:ext cx="1028700" cy="1913185"/>
            <a:chOff x="0" y="0"/>
            <a:chExt cx="1371600" cy="2550913"/>
          </a:xfrm>
        </p:grpSpPr>
        <p:sp>
          <p:nvSpPr>
            <p:cNvPr id="15" name="Freeform 15"/>
            <p:cNvSpPr/>
            <p:nvPr/>
          </p:nvSpPr>
          <p:spPr>
            <a:xfrm>
              <a:off x="0" y="0"/>
              <a:ext cx="1371600" cy="2550922"/>
            </a:xfrm>
            <a:custGeom>
              <a:avLst/>
              <a:gdLst/>
              <a:ahLst/>
              <a:cxnLst/>
              <a:rect l="l" t="t" r="r" b="b"/>
              <a:pathLst>
                <a:path w="1371600" h="2550922">
                  <a:moveTo>
                    <a:pt x="0" y="98298"/>
                  </a:moveTo>
                  <a:cubicBezTo>
                    <a:pt x="0" y="44069"/>
                    <a:pt x="44069" y="0"/>
                    <a:pt x="98298" y="0"/>
                  </a:cubicBezTo>
                  <a:lnTo>
                    <a:pt x="1273302" y="0"/>
                  </a:lnTo>
                  <a:cubicBezTo>
                    <a:pt x="1327531" y="0"/>
                    <a:pt x="1371600" y="44069"/>
                    <a:pt x="1371600" y="98298"/>
                  </a:cubicBezTo>
                  <a:lnTo>
                    <a:pt x="1371600" y="2452624"/>
                  </a:lnTo>
                  <a:cubicBezTo>
                    <a:pt x="1371600" y="2506853"/>
                    <a:pt x="1327531" y="2550922"/>
                    <a:pt x="1273302" y="2550922"/>
                  </a:cubicBezTo>
                  <a:lnTo>
                    <a:pt x="98298" y="2550922"/>
                  </a:lnTo>
                  <a:cubicBezTo>
                    <a:pt x="44069" y="2550922"/>
                    <a:pt x="0" y="2506853"/>
                    <a:pt x="0" y="2452624"/>
                  </a:cubicBezTo>
                  <a:close/>
                </a:path>
              </a:pathLst>
            </a:custGeom>
            <a:solidFill>
              <a:srgbClr val="CCEEFF"/>
            </a:solidFill>
          </p:spPr>
          <p:txBody>
            <a:bodyPr/>
            <a:lstStyle/>
            <a:p>
              <a:endParaRPr lang="en-GB"/>
            </a:p>
          </p:txBody>
        </p:sp>
      </p:grpSp>
      <p:sp>
        <p:nvSpPr>
          <p:cNvPr id="16" name="TextBox 16"/>
          <p:cNvSpPr txBox="1"/>
          <p:nvPr/>
        </p:nvSpPr>
        <p:spPr>
          <a:xfrm>
            <a:off x="1245394" y="3252787"/>
            <a:ext cx="385762" cy="434579"/>
          </a:xfrm>
          <a:prstGeom prst="rect">
            <a:avLst/>
          </a:prstGeom>
        </p:spPr>
        <p:txBody>
          <a:bodyPr lIns="0" tIns="0" rIns="0" bIns="0" rtlCol="0" anchor="t">
            <a:spAutoFit/>
          </a:bodyPr>
          <a:lstStyle/>
          <a:p>
            <a:pPr algn="l">
              <a:lnSpc>
                <a:spcPts val="3000"/>
              </a:lnSpc>
            </a:pPr>
            <a:r>
              <a:rPr lang="en-US" sz="3000">
                <a:solidFill>
                  <a:srgbClr val="272525"/>
                </a:solidFill>
                <a:latin typeface="Petrona"/>
                <a:ea typeface="Petrona"/>
                <a:cs typeface="Petrona"/>
                <a:sym typeface="Petrona"/>
              </a:rPr>
              <a:t>1</a:t>
            </a:r>
          </a:p>
        </p:txBody>
      </p:sp>
      <p:sp>
        <p:nvSpPr>
          <p:cNvPr id="17" name="TextBox 17"/>
          <p:cNvSpPr txBox="1"/>
          <p:nvPr/>
        </p:nvSpPr>
        <p:spPr>
          <a:xfrm>
            <a:off x="2214562" y="2727871"/>
            <a:ext cx="3375422" cy="425132"/>
          </a:xfrm>
          <a:prstGeom prst="rect">
            <a:avLst/>
          </a:prstGeom>
        </p:spPr>
        <p:txBody>
          <a:bodyPr lIns="0" tIns="0" rIns="0" bIns="0" rtlCol="0" anchor="t">
            <a:spAutoFit/>
          </a:bodyPr>
          <a:lstStyle/>
          <a:p>
            <a:pPr algn="l">
              <a:lnSpc>
                <a:spcPts val="3312"/>
              </a:lnSpc>
            </a:pPr>
            <a:r>
              <a:rPr lang="en-US" sz="2625" b="1">
                <a:solidFill>
                  <a:srgbClr val="272525"/>
                </a:solidFill>
                <a:latin typeface="Helios Bold"/>
                <a:ea typeface="Helios Bold"/>
                <a:cs typeface="Helios Bold"/>
                <a:sym typeface="Helios Bold"/>
              </a:rPr>
              <a:t>Thị Giác Máy Tính</a:t>
            </a:r>
          </a:p>
        </p:txBody>
      </p:sp>
      <p:sp>
        <p:nvSpPr>
          <p:cNvPr id="18" name="TextBox 18"/>
          <p:cNvSpPr txBox="1"/>
          <p:nvPr/>
        </p:nvSpPr>
        <p:spPr>
          <a:xfrm>
            <a:off x="2214562" y="3246835"/>
            <a:ext cx="8029575" cy="898922"/>
          </a:xfrm>
          <a:prstGeom prst="rect">
            <a:avLst/>
          </a:prstGeom>
        </p:spPr>
        <p:txBody>
          <a:bodyPr lIns="0" tIns="0" rIns="0" bIns="0" rtlCol="0" anchor="t">
            <a:spAutoFit/>
          </a:bodyPr>
          <a:lstStyle/>
          <a:p>
            <a:pPr algn="l">
              <a:lnSpc>
                <a:spcPts val="3187"/>
              </a:lnSpc>
            </a:pPr>
            <a:r>
              <a:rPr lang="en-US" sz="2000">
                <a:solidFill>
                  <a:srgbClr val="272525"/>
                </a:solidFill>
                <a:latin typeface="Inter"/>
                <a:ea typeface="Inter"/>
                <a:cs typeface="Inter"/>
                <a:sym typeface="Inter"/>
              </a:rPr>
              <a:t>Lĩnh vực AI cho phép máy tính "nhìn" và giải thích thông tin từ thế giới hình ảnh thông qua xử lý ảnh và phát hiện đối tượng.</a:t>
            </a:r>
          </a:p>
        </p:txBody>
      </p:sp>
      <p:grpSp>
        <p:nvGrpSpPr>
          <p:cNvPr id="19" name="Group 19"/>
          <p:cNvGrpSpPr/>
          <p:nvPr/>
        </p:nvGrpSpPr>
        <p:grpSpPr>
          <a:xfrm>
            <a:off x="885825" y="4674394"/>
            <a:ext cx="9658350" cy="1998910"/>
            <a:chOff x="0" y="0"/>
            <a:chExt cx="12877800" cy="2665213"/>
          </a:xfrm>
        </p:grpSpPr>
        <p:sp>
          <p:nvSpPr>
            <p:cNvPr id="20" name="Freeform 20"/>
            <p:cNvSpPr/>
            <p:nvPr/>
          </p:nvSpPr>
          <p:spPr>
            <a:xfrm>
              <a:off x="19050" y="19050"/>
              <a:ext cx="12839700" cy="2627122"/>
            </a:xfrm>
            <a:custGeom>
              <a:avLst/>
              <a:gdLst/>
              <a:ahLst/>
              <a:cxnLst/>
              <a:rect l="l" t="t" r="r" b="b"/>
              <a:pathLst>
                <a:path w="12839700" h="2627122">
                  <a:moveTo>
                    <a:pt x="0" y="144018"/>
                  </a:moveTo>
                  <a:cubicBezTo>
                    <a:pt x="0" y="64516"/>
                    <a:pt x="65278" y="0"/>
                    <a:pt x="145669" y="0"/>
                  </a:cubicBezTo>
                  <a:lnTo>
                    <a:pt x="12694031" y="0"/>
                  </a:lnTo>
                  <a:cubicBezTo>
                    <a:pt x="12774422" y="0"/>
                    <a:pt x="12839700" y="64516"/>
                    <a:pt x="12839700" y="144018"/>
                  </a:cubicBezTo>
                  <a:lnTo>
                    <a:pt x="12839700" y="2483104"/>
                  </a:lnTo>
                  <a:cubicBezTo>
                    <a:pt x="12839700" y="2562606"/>
                    <a:pt x="12774422" y="2627122"/>
                    <a:pt x="12694031" y="2627122"/>
                  </a:cubicBezTo>
                  <a:lnTo>
                    <a:pt x="145669" y="2627122"/>
                  </a:lnTo>
                  <a:cubicBezTo>
                    <a:pt x="65278" y="2627122"/>
                    <a:pt x="0" y="2562606"/>
                    <a:pt x="0" y="2483104"/>
                  </a:cubicBezTo>
                  <a:close/>
                </a:path>
              </a:pathLst>
            </a:custGeom>
            <a:solidFill>
              <a:srgbClr val="FFFFFF">
                <a:alpha val="90196"/>
              </a:srgbClr>
            </a:solidFill>
          </p:spPr>
          <p:txBody>
            <a:bodyPr/>
            <a:lstStyle/>
            <a:p>
              <a:endParaRPr lang="en-GB"/>
            </a:p>
          </p:txBody>
        </p:sp>
        <p:sp>
          <p:nvSpPr>
            <p:cNvPr id="21" name="Freeform 21"/>
            <p:cNvSpPr/>
            <p:nvPr/>
          </p:nvSpPr>
          <p:spPr>
            <a:xfrm>
              <a:off x="0" y="0"/>
              <a:ext cx="12877800" cy="2665222"/>
            </a:xfrm>
            <a:custGeom>
              <a:avLst/>
              <a:gdLst/>
              <a:ahLst/>
              <a:cxnLst/>
              <a:rect l="l" t="t" r="r" b="b"/>
              <a:pathLst>
                <a:path w="12877800" h="2665222">
                  <a:moveTo>
                    <a:pt x="0" y="163068"/>
                  </a:moveTo>
                  <a:cubicBezTo>
                    <a:pt x="0" y="72771"/>
                    <a:pt x="73914" y="0"/>
                    <a:pt x="164719" y="0"/>
                  </a:cubicBezTo>
                  <a:lnTo>
                    <a:pt x="12713081" y="0"/>
                  </a:lnTo>
                  <a:lnTo>
                    <a:pt x="12713081" y="19050"/>
                  </a:lnTo>
                  <a:lnTo>
                    <a:pt x="12713081" y="0"/>
                  </a:lnTo>
                  <a:cubicBezTo>
                    <a:pt x="12803886" y="0"/>
                    <a:pt x="12877800" y="72771"/>
                    <a:pt x="12877800" y="163068"/>
                  </a:cubicBezTo>
                  <a:lnTo>
                    <a:pt x="12858750" y="163068"/>
                  </a:lnTo>
                  <a:lnTo>
                    <a:pt x="12877800" y="163068"/>
                  </a:lnTo>
                  <a:lnTo>
                    <a:pt x="12877800" y="2502154"/>
                  </a:lnTo>
                  <a:lnTo>
                    <a:pt x="12858750" y="2502154"/>
                  </a:lnTo>
                  <a:lnTo>
                    <a:pt x="12877800" y="2502154"/>
                  </a:lnTo>
                  <a:cubicBezTo>
                    <a:pt x="12877800" y="2592451"/>
                    <a:pt x="12803886" y="2665222"/>
                    <a:pt x="12713081" y="2665222"/>
                  </a:cubicBezTo>
                  <a:lnTo>
                    <a:pt x="12713081" y="2646172"/>
                  </a:lnTo>
                  <a:lnTo>
                    <a:pt x="12713081" y="2665222"/>
                  </a:lnTo>
                  <a:lnTo>
                    <a:pt x="164719" y="2665222"/>
                  </a:lnTo>
                  <a:lnTo>
                    <a:pt x="164719" y="2646172"/>
                  </a:lnTo>
                  <a:lnTo>
                    <a:pt x="164719" y="2665222"/>
                  </a:lnTo>
                  <a:cubicBezTo>
                    <a:pt x="73914" y="2665222"/>
                    <a:pt x="0" y="2592451"/>
                    <a:pt x="0" y="2502154"/>
                  </a:cubicBezTo>
                  <a:lnTo>
                    <a:pt x="0" y="163068"/>
                  </a:lnTo>
                  <a:lnTo>
                    <a:pt x="19050" y="163068"/>
                  </a:lnTo>
                  <a:lnTo>
                    <a:pt x="0" y="163068"/>
                  </a:lnTo>
                  <a:moveTo>
                    <a:pt x="38100" y="163068"/>
                  </a:moveTo>
                  <a:lnTo>
                    <a:pt x="38100" y="2502154"/>
                  </a:lnTo>
                  <a:lnTo>
                    <a:pt x="19050" y="2502154"/>
                  </a:lnTo>
                  <a:lnTo>
                    <a:pt x="38100" y="2502154"/>
                  </a:lnTo>
                  <a:cubicBezTo>
                    <a:pt x="38100" y="2570988"/>
                    <a:pt x="94615" y="2627122"/>
                    <a:pt x="164719" y="2627122"/>
                  </a:cubicBezTo>
                  <a:lnTo>
                    <a:pt x="12713081" y="2627122"/>
                  </a:lnTo>
                  <a:cubicBezTo>
                    <a:pt x="12783185" y="2627122"/>
                    <a:pt x="12839700" y="2570988"/>
                    <a:pt x="12839700" y="2502154"/>
                  </a:cubicBezTo>
                  <a:lnTo>
                    <a:pt x="12839700" y="163068"/>
                  </a:lnTo>
                  <a:cubicBezTo>
                    <a:pt x="12839700" y="94234"/>
                    <a:pt x="12783185" y="38100"/>
                    <a:pt x="12713081" y="38100"/>
                  </a:cubicBezTo>
                  <a:lnTo>
                    <a:pt x="164719" y="38100"/>
                  </a:lnTo>
                  <a:lnTo>
                    <a:pt x="164719" y="19050"/>
                  </a:lnTo>
                  <a:lnTo>
                    <a:pt x="164719" y="38100"/>
                  </a:lnTo>
                  <a:cubicBezTo>
                    <a:pt x="94615" y="38100"/>
                    <a:pt x="38100" y="94234"/>
                    <a:pt x="38100" y="163068"/>
                  </a:cubicBezTo>
                  <a:close/>
                </a:path>
              </a:pathLst>
            </a:custGeom>
            <a:solidFill>
              <a:srgbClr val="B2D4E5"/>
            </a:solidFill>
          </p:spPr>
          <p:txBody>
            <a:bodyPr/>
            <a:lstStyle/>
            <a:p>
              <a:endParaRPr lang="en-GB"/>
            </a:p>
          </p:txBody>
        </p:sp>
      </p:grpSp>
      <p:grpSp>
        <p:nvGrpSpPr>
          <p:cNvPr id="22" name="Group 22"/>
          <p:cNvGrpSpPr/>
          <p:nvPr/>
        </p:nvGrpSpPr>
        <p:grpSpPr>
          <a:xfrm>
            <a:off x="928687" y="4717256"/>
            <a:ext cx="1028700" cy="1913185"/>
            <a:chOff x="0" y="0"/>
            <a:chExt cx="1371600" cy="2550913"/>
          </a:xfrm>
        </p:grpSpPr>
        <p:sp>
          <p:nvSpPr>
            <p:cNvPr id="23" name="Freeform 23"/>
            <p:cNvSpPr/>
            <p:nvPr/>
          </p:nvSpPr>
          <p:spPr>
            <a:xfrm>
              <a:off x="0" y="0"/>
              <a:ext cx="1371600" cy="2550922"/>
            </a:xfrm>
            <a:custGeom>
              <a:avLst/>
              <a:gdLst/>
              <a:ahLst/>
              <a:cxnLst/>
              <a:rect l="l" t="t" r="r" b="b"/>
              <a:pathLst>
                <a:path w="1371600" h="2550922">
                  <a:moveTo>
                    <a:pt x="0" y="98298"/>
                  </a:moveTo>
                  <a:cubicBezTo>
                    <a:pt x="0" y="44069"/>
                    <a:pt x="44069" y="0"/>
                    <a:pt x="98298" y="0"/>
                  </a:cubicBezTo>
                  <a:lnTo>
                    <a:pt x="1273302" y="0"/>
                  </a:lnTo>
                  <a:cubicBezTo>
                    <a:pt x="1327531" y="0"/>
                    <a:pt x="1371600" y="44069"/>
                    <a:pt x="1371600" y="98298"/>
                  </a:cubicBezTo>
                  <a:lnTo>
                    <a:pt x="1371600" y="2452624"/>
                  </a:lnTo>
                  <a:cubicBezTo>
                    <a:pt x="1371600" y="2506853"/>
                    <a:pt x="1327531" y="2550922"/>
                    <a:pt x="1273302" y="2550922"/>
                  </a:cubicBezTo>
                  <a:lnTo>
                    <a:pt x="98298" y="2550922"/>
                  </a:lnTo>
                  <a:cubicBezTo>
                    <a:pt x="44069" y="2550922"/>
                    <a:pt x="0" y="2506853"/>
                    <a:pt x="0" y="2452624"/>
                  </a:cubicBezTo>
                  <a:close/>
                </a:path>
              </a:pathLst>
            </a:custGeom>
            <a:solidFill>
              <a:srgbClr val="CCEEFF"/>
            </a:solidFill>
          </p:spPr>
          <p:txBody>
            <a:bodyPr/>
            <a:lstStyle/>
            <a:p>
              <a:endParaRPr lang="en-GB"/>
            </a:p>
          </p:txBody>
        </p:sp>
      </p:grpSp>
      <p:sp>
        <p:nvSpPr>
          <p:cNvPr id="24" name="TextBox 24"/>
          <p:cNvSpPr txBox="1"/>
          <p:nvPr/>
        </p:nvSpPr>
        <p:spPr>
          <a:xfrm>
            <a:off x="1245394" y="5480297"/>
            <a:ext cx="385762" cy="434579"/>
          </a:xfrm>
          <a:prstGeom prst="rect">
            <a:avLst/>
          </a:prstGeom>
        </p:spPr>
        <p:txBody>
          <a:bodyPr lIns="0" tIns="0" rIns="0" bIns="0" rtlCol="0" anchor="t">
            <a:spAutoFit/>
          </a:bodyPr>
          <a:lstStyle/>
          <a:p>
            <a:pPr algn="l">
              <a:lnSpc>
                <a:spcPts val="3000"/>
              </a:lnSpc>
            </a:pPr>
            <a:r>
              <a:rPr lang="en-US" sz="3000">
                <a:solidFill>
                  <a:srgbClr val="272525"/>
                </a:solidFill>
                <a:latin typeface="Petrona"/>
                <a:ea typeface="Petrona"/>
                <a:cs typeface="Petrona"/>
                <a:sym typeface="Petrona"/>
              </a:rPr>
              <a:t>2</a:t>
            </a:r>
          </a:p>
        </p:txBody>
      </p:sp>
      <p:sp>
        <p:nvSpPr>
          <p:cNvPr id="25" name="TextBox 25"/>
          <p:cNvSpPr txBox="1"/>
          <p:nvPr/>
        </p:nvSpPr>
        <p:spPr>
          <a:xfrm>
            <a:off x="2214562" y="4955381"/>
            <a:ext cx="3375422" cy="425132"/>
          </a:xfrm>
          <a:prstGeom prst="rect">
            <a:avLst/>
          </a:prstGeom>
        </p:spPr>
        <p:txBody>
          <a:bodyPr lIns="0" tIns="0" rIns="0" bIns="0" rtlCol="0" anchor="t">
            <a:spAutoFit/>
          </a:bodyPr>
          <a:lstStyle/>
          <a:p>
            <a:pPr algn="l">
              <a:lnSpc>
                <a:spcPts val="3312"/>
              </a:lnSpc>
            </a:pPr>
            <a:r>
              <a:rPr lang="en-US" sz="2625" b="1">
                <a:solidFill>
                  <a:srgbClr val="272525"/>
                </a:solidFill>
                <a:latin typeface="Helios Bold"/>
                <a:ea typeface="Helios Bold"/>
                <a:cs typeface="Helios Bold"/>
                <a:sym typeface="Helios Bold"/>
              </a:rPr>
              <a:t>OpenCV Library</a:t>
            </a:r>
          </a:p>
        </p:txBody>
      </p:sp>
      <p:sp>
        <p:nvSpPr>
          <p:cNvPr id="26" name="TextBox 26"/>
          <p:cNvSpPr txBox="1"/>
          <p:nvPr/>
        </p:nvSpPr>
        <p:spPr>
          <a:xfrm>
            <a:off x="2214562" y="5474345"/>
            <a:ext cx="8029575" cy="898922"/>
          </a:xfrm>
          <a:prstGeom prst="rect">
            <a:avLst/>
          </a:prstGeom>
        </p:spPr>
        <p:txBody>
          <a:bodyPr lIns="0" tIns="0" rIns="0" bIns="0" rtlCol="0" anchor="t">
            <a:spAutoFit/>
          </a:bodyPr>
          <a:lstStyle/>
          <a:p>
            <a:pPr algn="l">
              <a:lnSpc>
                <a:spcPts val="3187"/>
              </a:lnSpc>
            </a:pPr>
            <a:r>
              <a:rPr lang="en-US" sz="2000">
                <a:solidFill>
                  <a:srgbClr val="272525"/>
                </a:solidFill>
                <a:latin typeface="Inter"/>
                <a:ea typeface="Inter"/>
                <a:cs typeface="Inter"/>
                <a:sym typeface="Inter"/>
              </a:rPr>
              <a:t>Thư viện mã nguồn mở hàng đầu dùng để xử lý video, hình ảnh, vẽ hình học, và xử lý tương tác chuột trong đề tài này.</a:t>
            </a:r>
          </a:p>
        </p:txBody>
      </p:sp>
      <p:grpSp>
        <p:nvGrpSpPr>
          <p:cNvPr id="27" name="Group 27"/>
          <p:cNvGrpSpPr/>
          <p:nvPr/>
        </p:nvGrpSpPr>
        <p:grpSpPr>
          <a:xfrm>
            <a:off x="885825" y="6901904"/>
            <a:ext cx="9658350" cy="1998910"/>
            <a:chOff x="0" y="0"/>
            <a:chExt cx="12877800" cy="2665213"/>
          </a:xfrm>
        </p:grpSpPr>
        <p:sp>
          <p:nvSpPr>
            <p:cNvPr id="28" name="Freeform 28"/>
            <p:cNvSpPr/>
            <p:nvPr/>
          </p:nvSpPr>
          <p:spPr>
            <a:xfrm>
              <a:off x="19050" y="19050"/>
              <a:ext cx="12839700" cy="2627122"/>
            </a:xfrm>
            <a:custGeom>
              <a:avLst/>
              <a:gdLst/>
              <a:ahLst/>
              <a:cxnLst/>
              <a:rect l="l" t="t" r="r" b="b"/>
              <a:pathLst>
                <a:path w="12839700" h="2627122">
                  <a:moveTo>
                    <a:pt x="0" y="144018"/>
                  </a:moveTo>
                  <a:cubicBezTo>
                    <a:pt x="0" y="64516"/>
                    <a:pt x="65278" y="0"/>
                    <a:pt x="145669" y="0"/>
                  </a:cubicBezTo>
                  <a:lnTo>
                    <a:pt x="12694031" y="0"/>
                  </a:lnTo>
                  <a:cubicBezTo>
                    <a:pt x="12774422" y="0"/>
                    <a:pt x="12839700" y="64516"/>
                    <a:pt x="12839700" y="144018"/>
                  </a:cubicBezTo>
                  <a:lnTo>
                    <a:pt x="12839700" y="2483104"/>
                  </a:lnTo>
                  <a:cubicBezTo>
                    <a:pt x="12839700" y="2562606"/>
                    <a:pt x="12774422" y="2627122"/>
                    <a:pt x="12694031" y="2627122"/>
                  </a:cubicBezTo>
                  <a:lnTo>
                    <a:pt x="145669" y="2627122"/>
                  </a:lnTo>
                  <a:cubicBezTo>
                    <a:pt x="65278" y="2627122"/>
                    <a:pt x="0" y="2562606"/>
                    <a:pt x="0" y="2483104"/>
                  </a:cubicBezTo>
                  <a:close/>
                </a:path>
              </a:pathLst>
            </a:custGeom>
            <a:solidFill>
              <a:srgbClr val="FFFFFF">
                <a:alpha val="90196"/>
              </a:srgbClr>
            </a:solidFill>
          </p:spPr>
          <p:txBody>
            <a:bodyPr/>
            <a:lstStyle/>
            <a:p>
              <a:endParaRPr lang="en-GB"/>
            </a:p>
          </p:txBody>
        </p:sp>
        <p:sp>
          <p:nvSpPr>
            <p:cNvPr id="29" name="Freeform 29"/>
            <p:cNvSpPr/>
            <p:nvPr/>
          </p:nvSpPr>
          <p:spPr>
            <a:xfrm>
              <a:off x="0" y="0"/>
              <a:ext cx="12877800" cy="2665222"/>
            </a:xfrm>
            <a:custGeom>
              <a:avLst/>
              <a:gdLst/>
              <a:ahLst/>
              <a:cxnLst/>
              <a:rect l="l" t="t" r="r" b="b"/>
              <a:pathLst>
                <a:path w="12877800" h="2665222">
                  <a:moveTo>
                    <a:pt x="0" y="163068"/>
                  </a:moveTo>
                  <a:cubicBezTo>
                    <a:pt x="0" y="72771"/>
                    <a:pt x="73914" y="0"/>
                    <a:pt x="164719" y="0"/>
                  </a:cubicBezTo>
                  <a:lnTo>
                    <a:pt x="12713081" y="0"/>
                  </a:lnTo>
                  <a:lnTo>
                    <a:pt x="12713081" y="19050"/>
                  </a:lnTo>
                  <a:lnTo>
                    <a:pt x="12713081" y="0"/>
                  </a:lnTo>
                  <a:cubicBezTo>
                    <a:pt x="12803886" y="0"/>
                    <a:pt x="12877800" y="72771"/>
                    <a:pt x="12877800" y="163068"/>
                  </a:cubicBezTo>
                  <a:lnTo>
                    <a:pt x="12858750" y="163068"/>
                  </a:lnTo>
                  <a:lnTo>
                    <a:pt x="12877800" y="163068"/>
                  </a:lnTo>
                  <a:lnTo>
                    <a:pt x="12877800" y="2502154"/>
                  </a:lnTo>
                  <a:lnTo>
                    <a:pt x="12858750" y="2502154"/>
                  </a:lnTo>
                  <a:lnTo>
                    <a:pt x="12877800" y="2502154"/>
                  </a:lnTo>
                  <a:cubicBezTo>
                    <a:pt x="12877800" y="2592451"/>
                    <a:pt x="12803886" y="2665222"/>
                    <a:pt x="12713081" y="2665222"/>
                  </a:cubicBezTo>
                  <a:lnTo>
                    <a:pt x="12713081" y="2646172"/>
                  </a:lnTo>
                  <a:lnTo>
                    <a:pt x="12713081" y="2665222"/>
                  </a:lnTo>
                  <a:lnTo>
                    <a:pt x="164719" y="2665222"/>
                  </a:lnTo>
                  <a:lnTo>
                    <a:pt x="164719" y="2646172"/>
                  </a:lnTo>
                  <a:lnTo>
                    <a:pt x="164719" y="2665222"/>
                  </a:lnTo>
                  <a:cubicBezTo>
                    <a:pt x="73914" y="2665222"/>
                    <a:pt x="0" y="2592451"/>
                    <a:pt x="0" y="2502154"/>
                  </a:cubicBezTo>
                  <a:lnTo>
                    <a:pt x="0" y="163068"/>
                  </a:lnTo>
                  <a:lnTo>
                    <a:pt x="19050" y="163068"/>
                  </a:lnTo>
                  <a:lnTo>
                    <a:pt x="0" y="163068"/>
                  </a:lnTo>
                  <a:moveTo>
                    <a:pt x="38100" y="163068"/>
                  </a:moveTo>
                  <a:lnTo>
                    <a:pt x="38100" y="2502154"/>
                  </a:lnTo>
                  <a:lnTo>
                    <a:pt x="19050" y="2502154"/>
                  </a:lnTo>
                  <a:lnTo>
                    <a:pt x="38100" y="2502154"/>
                  </a:lnTo>
                  <a:cubicBezTo>
                    <a:pt x="38100" y="2570988"/>
                    <a:pt x="94615" y="2627122"/>
                    <a:pt x="164719" y="2627122"/>
                  </a:cubicBezTo>
                  <a:lnTo>
                    <a:pt x="12713081" y="2627122"/>
                  </a:lnTo>
                  <a:cubicBezTo>
                    <a:pt x="12783185" y="2627122"/>
                    <a:pt x="12839700" y="2570988"/>
                    <a:pt x="12839700" y="2502154"/>
                  </a:cubicBezTo>
                  <a:lnTo>
                    <a:pt x="12839700" y="163068"/>
                  </a:lnTo>
                  <a:cubicBezTo>
                    <a:pt x="12839700" y="94234"/>
                    <a:pt x="12783185" y="38100"/>
                    <a:pt x="12713081" y="38100"/>
                  </a:cubicBezTo>
                  <a:lnTo>
                    <a:pt x="164719" y="38100"/>
                  </a:lnTo>
                  <a:lnTo>
                    <a:pt x="164719" y="19050"/>
                  </a:lnTo>
                  <a:lnTo>
                    <a:pt x="164719" y="38100"/>
                  </a:lnTo>
                  <a:cubicBezTo>
                    <a:pt x="94615" y="38100"/>
                    <a:pt x="38100" y="94234"/>
                    <a:pt x="38100" y="163068"/>
                  </a:cubicBezTo>
                  <a:close/>
                </a:path>
              </a:pathLst>
            </a:custGeom>
            <a:solidFill>
              <a:srgbClr val="B2D4E5"/>
            </a:solidFill>
          </p:spPr>
          <p:txBody>
            <a:bodyPr/>
            <a:lstStyle/>
            <a:p>
              <a:endParaRPr lang="en-GB"/>
            </a:p>
          </p:txBody>
        </p:sp>
      </p:grpSp>
      <p:grpSp>
        <p:nvGrpSpPr>
          <p:cNvPr id="30" name="Group 30"/>
          <p:cNvGrpSpPr/>
          <p:nvPr/>
        </p:nvGrpSpPr>
        <p:grpSpPr>
          <a:xfrm>
            <a:off x="928687" y="6944766"/>
            <a:ext cx="1028700" cy="1913185"/>
            <a:chOff x="0" y="0"/>
            <a:chExt cx="1371600" cy="2550913"/>
          </a:xfrm>
        </p:grpSpPr>
        <p:sp>
          <p:nvSpPr>
            <p:cNvPr id="31" name="Freeform 31"/>
            <p:cNvSpPr/>
            <p:nvPr/>
          </p:nvSpPr>
          <p:spPr>
            <a:xfrm>
              <a:off x="0" y="0"/>
              <a:ext cx="1371600" cy="2550922"/>
            </a:xfrm>
            <a:custGeom>
              <a:avLst/>
              <a:gdLst/>
              <a:ahLst/>
              <a:cxnLst/>
              <a:rect l="l" t="t" r="r" b="b"/>
              <a:pathLst>
                <a:path w="1371600" h="2550922">
                  <a:moveTo>
                    <a:pt x="0" y="98298"/>
                  </a:moveTo>
                  <a:cubicBezTo>
                    <a:pt x="0" y="44069"/>
                    <a:pt x="44069" y="0"/>
                    <a:pt x="98298" y="0"/>
                  </a:cubicBezTo>
                  <a:lnTo>
                    <a:pt x="1273302" y="0"/>
                  </a:lnTo>
                  <a:cubicBezTo>
                    <a:pt x="1327531" y="0"/>
                    <a:pt x="1371600" y="44069"/>
                    <a:pt x="1371600" y="98298"/>
                  </a:cubicBezTo>
                  <a:lnTo>
                    <a:pt x="1371600" y="2452624"/>
                  </a:lnTo>
                  <a:cubicBezTo>
                    <a:pt x="1371600" y="2506853"/>
                    <a:pt x="1327531" y="2550922"/>
                    <a:pt x="1273302" y="2550922"/>
                  </a:cubicBezTo>
                  <a:lnTo>
                    <a:pt x="98298" y="2550922"/>
                  </a:lnTo>
                  <a:cubicBezTo>
                    <a:pt x="44069" y="2550922"/>
                    <a:pt x="0" y="2506853"/>
                    <a:pt x="0" y="2452624"/>
                  </a:cubicBezTo>
                  <a:close/>
                </a:path>
              </a:pathLst>
            </a:custGeom>
            <a:solidFill>
              <a:srgbClr val="CCEEFF"/>
            </a:solidFill>
          </p:spPr>
          <p:txBody>
            <a:bodyPr/>
            <a:lstStyle/>
            <a:p>
              <a:endParaRPr lang="en-GB"/>
            </a:p>
          </p:txBody>
        </p:sp>
      </p:grpSp>
      <p:sp>
        <p:nvSpPr>
          <p:cNvPr id="32" name="TextBox 32"/>
          <p:cNvSpPr txBox="1"/>
          <p:nvPr/>
        </p:nvSpPr>
        <p:spPr>
          <a:xfrm>
            <a:off x="1245394" y="7707809"/>
            <a:ext cx="385762" cy="434579"/>
          </a:xfrm>
          <a:prstGeom prst="rect">
            <a:avLst/>
          </a:prstGeom>
        </p:spPr>
        <p:txBody>
          <a:bodyPr lIns="0" tIns="0" rIns="0" bIns="0" rtlCol="0" anchor="t">
            <a:spAutoFit/>
          </a:bodyPr>
          <a:lstStyle/>
          <a:p>
            <a:pPr algn="l">
              <a:lnSpc>
                <a:spcPts val="3000"/>
              </a:lnSpc>
            </a:pPr>
            <a:r>
              <a:rPr lang="en-US" sz="3000">
                <a:solidFill>
                  <a:srgbClr val="272525"/>
                </a:solidFill>
                <a:latin typeface="Petrona"/>
                <a:ea typeface="Petrona"/>
                <a:cs typeface="Petrona"/>
                <a:sym typeface="Petrona"/>
              </a:rPr>
              <a:t>3</a:t>
            </a:r>
          </a:p>
        </p:txBody>
      </p:sp>
      <p:sp>
        <p:nvSpPr>
          <p:cNvPr id="33" name="TextBox 33"/>
          <p:cNvSpPr txBox="1"/>
          <p:nvPr/>
        </p:nvSpPr>
        <p:spPr>
          <a:xfrm>
            <a:off x="2214562" y="7182891"/>
            <a:ext cx="3375422" cy="425132"/>
          </a:xfrm>
          <a:prstGeom prst="rect">
            <a:avLst/>
          </a:prstGeom>
        </p:spPr>
        <p:txBody>
          <a:bodyPr lIns="0" tIns="0" rIns="0" bIns="0" rtlCol="0" anchor="t">
            <a:spAutoFit/>
          </a:bodyPr>
          <a:lstStyle/>
          <a:p>
            <a:pPr algn="l">
              <a:lnSpc>
                <a:spcPts val="3312"/>
              </a:lnSpc>
            </a:pPr>
            <a:r>
              <a:rPr lang="en-US" sz="2625" b="1">
                <a:solidFill>
                  <a:srgbClr val="272525"/>
                </a:solidFill>
                <a:latin typeface="Helios Bold"/>
                <a:ea typeface="Helios Bold"/>
                <a:cs typeface="Helios Bold"/>
                <a:sym typeface="Helios Bold"/>
              </a:rPr>
              <a:t>Deep Learning</a:t>
            </a:r>
          </a:p>
        </p:txBody>
      </p:sp>
      <p:sp>
        <p:nvSpPr>
          <p:cNvPr id="34" name="TextBox 34"/>
          <p:cNvSpPr txBox="1"/>
          <p:nvPr/>
        </p:nvSpPr>
        <p:spPr>
          <a:xfrm>
            <a:off x="2214562" y="7701855"/>
            <a:ext cx="8029575" cy="898922"/>
          </a:xfrm>
          <a:prstGeom prst="rect">
            <a:avLst/>
          </a:prstGeom>
        </p:spPr>
        <p:txBody>
          <a:bodyPr lIns="0" tIns="0" rIns="0" bIns="0" rtlCol="0" anchor="t">
            <a:spAutoFit/>
          </a:bodyPr>
          <a:lstStyle/>
          <a:p>
            <a:pPr algn="l">
              <a:lnSpc>
                <a:spcPts val="3187"/>
              </a:lnSpc>
            </a:pPr>
            <a:r>
              <a:rPr lang="en-US" sz="2000">
                <a:solidFill>
                  <a:srgbClr val="272525"/>
                </a:solidFill>
                <a:latin typeface="Inter"/>
                <a:ea typeface="Inter"/>
                <a:cs typeface="Inter"/>
                <a:sym typeface="Inter"/>
              </a:rPr>
              <a:t>Sử dụng mạng nơ-ron sâu để nhận diện mẫu phức tạp trong dữ liệu hình ảnh, cơ sở của các mô hình phát hiện đối tượng hiện đại.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GB"/>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txBody>
            <a:bodyPr/>
            <a:lstStyle/>
            <a:p>
              <a:endParaRPr lang="en-GB"/>
            </a:p>
          </p:txBody>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txBody>
            <a:bodyPr/>
            <a:lstStyle/>
            <a:p>
              <a:endParaRPr lang="en-GB"/>
            </a:p>
          </p:txBody>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txBody>
            <a:bodyPr/>
            <a:lstStyle/>
            <a:p>
              <a:endParaRPr lang="en-GB"/>
            </a:p>
          </p:txBody>
        </p:sp>
      </p:grpSp>
      <p:sp>
        <p:nvSpPr>
          <p:cNvPr id="10" name="TextBox 10"/>
          <p:cNvSpPr txBox="1"/>
          <p:nvPr/>
        </p:nvSpPr>
        <p:spPr>
          <a:xfrm>
            <a:off x="992238" y="1699915"/>
            <a:ext cx="9445526" cy="1471613"/>
          </a:xfrm>
          <a:prstGeom prst="rect">
            <a:avLst/>
          </a:prstGeom>
        </p:spPr>
        <p:txBody>
          <a:bodyPr lIns="0" tIns="0" rIns="0" bIns="0" rtlCol="0" anchor="t">
            <a:spAutoFit/>
          </a:bodyPr>
          <a:lstStyle/>
          <a:p>
            <a:pPr algn="l">
              <a:lnSpc>
                <a:spcPts val="5812"/>
              </a:lnSpc>
            </a:pPr>
            <a:r>
              <a:rPr lang="en-US" sz="4687" b="1">
                <a:solidFill>
                  <a:srgbClr val="000000"/>
                </a:solidFill>
                <a:latin typeface="Inter Bold"/>
                <a:ea typeface="Inter Bold"/>
                <a:cs typeface="Inter Bold"/>
                <a:sym typeface="Inter Bold"/>
              </a:rPr>
              <a:t>III. YOLOV8: THUẬT TOÁN PHÁT HIỆN ĐỐI TƯỢNG</a:t>
            </a:r>
          </a:p>
        </p:txBody>
      </p:sp>
      <p:sp>
        <p:nvSpPr>
          <p:cNvPr id="11" name="TextBox 11"/>
          <p:cNvSpPr txBox="1"/>
          <p:nvPr/>
        </p:nvSpPr>
        <p:spPr>
          <a:xfrm>
            <a:off x="992238" y="3906739"/>
            <a:ext cx="3721299" cy="481054"/>
          </a:xfrm>
          <a:prstGeom prst="rect">
            <a:avLst/>
          </a:prstGeom>
        </p:spPr>
        <p:txBody>
          <a:bodyPr lIns="0" tIns="0" rIns="0" bIns="0" rtlCol="0" anchor="t">
            <a:spAutoFit/>
          </a:bodyPr>
          <a:lstStyle/>
          <a:p>
            <a:pPr algn="l">
              <a:lnSpc>
                <a:spcPts val="3877"/>
              </a:lnSpc>
            </a:pPr>
            <a:r>
              <a:rPr lang="en-US" sz="3075">
                <a:solidFill>
                  <a:srgbClr val="000000"/>
                </a:solidFill>
                <a:latin typeface="Petrona"/>
                <a:ea typeface="Petrona"/>
                <a:cs typeface="Petrona"/>
                <a:sym typeface="Petrona"/>
              </a:rPr>
              <a:t>Nguyên Lý YOLO</a:t>
            </a:r>
          </a:p>
        </p:txBody>
      </p:sp>
      <p:sp>
        <p:nvSpPr>
          <p:cNvPr id="12" name="TextBox 12"/>
          <p:cNvSpPr txBox="1"/>
          <p:nvPr/>
        </p:nvSpPr>
        <p:spPr>
          <a:xfrm>
            <a:off x="992237" y="4560094"/>
            <a:ext cx="4376886" cy="4774066"/>
          </a:xfrm>
          <a:prstGeom prst="rect">
            <a:avLst/>
          </a:prstGeom>
        </p:spPr>
        <p:txBody>
          <a:bodyPr lIns="0" tIns="0" rIns="0" bIns="0" rtlCol="0" anchor="t">
            <a:spAutoFit/>
          </a:bodyPr>
          <a:lstStyle/>
          <a:p>
            <a:pPr algn="l">
              <a:lnSpc>
                <a:spcPts val="4213"/>
              </a:lnSpc>
            </a:pPr>
            <a:r>
              <a:rPr lang="en-US" sz="2587">
                <a:solidFill>
                  <a:srgbClr val="272525"/>
                </a:solidFill>
                <a:latin typeface="Inter"/>
                <a:ea typeface="Inter"/>
                <a:cs typeface="Inter"/>
                <a:sym typeface="Inter"/>
              </a:rPr>
              <a:t>YOLO (You Only Look Once) xử lý toàn bộ ảnh trong một lần, chia ảnh thành lưới và dự đoán hộp giới hạn cùng xác suất lớp cho mỗi ô. YOLOv8 là phiên bản mới nhất từ Ultralytics, cung cấp cân bằng vượt trội giữa tốc độ và độ chính xác.</a:t>
            </a:r>
          </a:p>
        </p:txBody>
      </p:sp>
      <p:sp>
        <p:nvSpPr>
          <p:cNvPr id="13" name="TextBox 13"/>
          <p:cNvSpPr txBox="1"/>
          <p:nvPr/>
        </p:nvSpPr>
        <p:spPr>
          <a:xfrm>
            <a:off x="6070401" y="3906739"/>
            <a:ext cx="3721299" cy="481054"/>
          </a:xfrm>
          <a:prstGeom prst="rect">
            <a:avLst/>
          </a:prstGeom>
        </p:spPr>
        <p:txBody>
          <a:bodyPr lIns="0" tIns="0" rIns="0" bIns="0" rtlCol="0" anchor="t">
            <a:spAutoFit/>
          </a:bodyPr>
          <a:lstStyle/>
          <a:p>
            <a:pPr algn="l">
              <a:lnSpc>
                <a:spcPts val="3877"/>
              </a:lnSpc>
            </a:pPr>
            <a:r>
              <a:rPr lang="en-US" sz="3075">
                <a:solidFill>
                  <a:srgbClr val="000000"/>
                </a:solidFill>
                <a:latin typeface="Petrona"/>
                <a:ea typeface="Petrona"/>
                <a:cs typeface="Petrona"/>
                <a:sym typeface="Petrona"/>
              </a:rPr>
              <a:t>YOLOv8 Nano</a:t>
            </a:r>
          </a:p>
        </p:txBody>
      </p:sp>
      <p:sp>
        <p:nvSpPr>
          <p:cNvPr id="14" name="TextBox 14"/>
          <p:cNvSpPr txBox="1"/>
          <p:nvPr/>
        </p:nvSpPr>
        <p:spPr>
          <a:xfrm>
            <a:off x="6070401" y="4560094"/>
            <a:ext cx="4376886" cy="4240666"/>
          </a:xfrm>
          <a:prstGeom prst="rect">
            <a:avLst/>
          </a:prstGeom>
        </p:spPr>
        <p:txBody>
          <a:bodyPr lIns="0" tIns="0" rIns="0" bIns="0" rtlCol="0" anchor="t">
            <a:spAutoFit/>
          </a:bodyPr>
          <a:lstStyle/>
          <a:p>
            <a:pPr algn="l">
              <a:lnSpc>
                <a:spcPts val="4213"/>
              </a:lnSpc>
            </a:pPr>
            <a:r>
              <a:rPr lang="en-US" sz="2587">
                <a:solidFill>
                  <a:srgbClr val="272525"/>
                </a:solidFill>
                <a:latin typeface="Inter"/>
                <a:ea typeface="Inter"/>
                <a:cs typeface="Inter"/>
                <a:sym typeface="Inter"/>
              </a:rPr>
              <a:t>Đề tài sử dụng mô hình yolov8n.pt (phiên bản Nano) – mô hình nhỏ nhất, nhanh nhất trong họ YOLOv8, rất phù hợp cho ứng dụng thời gian thực yêu cầu tốc độ cao và hiệu quả tính toán.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GB"/>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txBody>
            <a:bodyPr/>
            <a:lstStyle/>
            <a:p>
              <a:endParaRPr lang="en-GB"/>
            </a:p>
          </p:txBody>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txBody>
            <a:bodyPr/>
            <a:lstStyle/>
            <a:p>
              <a:endParaRPr lang="en-GB"/>
            </a:p>
          </p:txBody>
        </p:sp>
      </p:grpSp>
      <p:sp>
        <p:nvSpPr>
          <p:cNvPr id="8" name="TextBox 8"/>
          <p:cNvSpPr txBox="1"/>
          <p:nvPr/>
        </p:nvSpPr>
        <p:spPr>
          <a:xfrm>
            <a:off x="7172507" y="368300"/>
            <a:ext cx="9625542" cy="1292225"/>
          </a:xfrm>
          <a:prstGeom prst="rect">
            <a:avLst/>
          </a:prstGeom>
        </p:spPr>
        <p:txBody>
          <a:bodyPr lIns="0" tIns="0" rIns="0" bIns="0" rtlCol="0" anchor="t">
            <a:spAutoFit/>
          </a:bodyPr>
          <a:lstStyle/>
          <a:p>
            <a:pPr algn="l">
              <a:lnSpc>
                <a:spcPts val="5124"/>
              </a:lnSpc>
            </a:pPr>
            <a:r>
              <a:rPr lang="en-US" sz="4062" b="1">
                <a:solidFill>
                  <a:srgbClr val="000000"/>
                </a:solidFill>
                <a:latin typeface="Inter Bold"/>
                <a:ea typeface="Inter Bold"/>
                <a:cs typeface="Inter Bold"/>
                <a:sym typeface="Inter Bold"/>
              </a:rPr>
              <a:t>IV. THEO DÕI ĐỐI TƯỢNG VÀ THUẬT TOÁN ĐẾM</a:t>
            </a:r>
          </a:p>
        </p:txBody>
      </p:sp>
      <p:grpSp>
        <p:nvGrpSpPr>
          <p:cNvPr id="9" name="Group 9"/>
          <p:cNvGrpSpPr>
            <a:grpSpLocks noChangeAspect="1"/>
          </p:cNvGrpSpPr>
          <p:nvPr/>
        </p:nvGrpSpPr>
        <p:grpSpPr>
          <a:xfrm>
            <a:off x="7728049" y="2037160"/>
            <a:ext cx="745777" cy="1428750"/>
            <a:chOff x="0" y="0"/>
            <a:chExt cx="994370" cy="1905000"/>
          </a:xfrm>
        </p:grpSpPr>
        <p:sp>
          <p:nvSpPr>
            <p:cNvPr id="10" name="Freeform 10" descr="preencoded.png"/>
            <p:cNvSpPr/>
            <p:nvPr/>
          </p:nvSpPr>
          <p:spPr>
            <a:xfrm>
              <a:off x="0" y="0"/>
              <a:ext cx="994410" cy="1905000"/>
            </a:xfrm>
            <a:custGeom>
              <a:avLst/>
              <a:gdLst/>
              <a:ahLst/>
              <a:cxnLst/>
              <a:rect l="l" t="t" r="r" b="b"/>
              <a:pathLst>
                <a:path w="994410" h="1905000">
                  <a:moveTo>
                    <a:pt x="0" y="0"/>
                  </a:moveTo>
                  <a:lnTo>
                    <a:pt x="994410" y="0"/>
                  </a:lnTo>
                  <a:lnTo>
                    <a:pt x="994410" y="1905000"/>
                  </a:lnTo>
                  <a:lnTo>
                    <a:pt x="0" y="1905000"/>
                  </a:lnTo>
                  <a:lnTo>
                    <a:pt x="0" y="0"/>
                  </a:lnTo>
                  <a:close/>
                </a:path>
              </a:pathLst>
            </a:custGeom>
            <a:blipFill>
              <a:blip r:embed="rId5"/>
              <a:stretch>
                <a:fillRect t="-190" r="4" b="-190"/>
              </a:stretch>
            </a:blipFill>
          </p:spPr>
          <p:txBody>
            <a:bodyPr/>
            <a:lstStyle/>
            <a:p>
              <a:endParaRPr lang="en-GB"/>
            </a:p>
          </p:txBody>
        </p:sp>
      </p:grpSp>
      <p:sp>
        <p:nvSpPr>
          <p:cNvPr id="11" name="TextBox 11"/>
          <p:cNvSpPr txBox="1"/>
          <p:nvPr/>
        </p:nvSpPr>
        <p:spPr>
          <a:xfrm>
            <a:off x="8722370" y="2276177"/>
            <a:ext cx="3262907" cy="395287"/>
          </a:xfrm>
          <a:prstGeom prst="rect">
            <a:avLst/>
          </a:prstGeom>
        </p:spPr>
        <p:txBody>
          <a:bodyPr lIns="0" tIns="0" rIns="0" bIns="0" rtlCol="0" anchor="t">
            <a:spAutoFit/>
          </a:bodyPr>
          <a:lstStyle/>
          <a:p>
            <a:pPr algn="l">
              <a:lnSpc>
                <a:spcPts val="3187"/>
              </a:lnSpc>
            </a:pPr>
            <a:r>
              <a:rPr lang="en-US" sz="2562" b="1">
                <a:solidFill>
                  <a:srgbClr val="272525"/>
                </a:solidFill>
                <a:latin typeface="Inter Bold"/>
                <a:ea typeface="Inter Bold"/>
                <a:cs typeface="Inter Bold"/>
                <a:sym typeface="Inter Bold"/>
              </a:rPr>
              <a:t>Theo Dõi (Tracking)</a:t>
            </a:r>
          </a:p>
        </p:txBody>
      </p:sp>
      <p:sp>
        <p:nvSpPr>
          <p:cNvPr id="12" name="TextBox 12"/>
          <p:cNvSpPr txBox="1"/>
          <p:nvPr/>
        </p:nvSpPr>
        <p:spPr>
          <a:xfrm>
            <a:off x="8722370" y="2756893"/>
            <a:ext cx="8695581" cy="1278731"/>
          </a:xfrm>
          <a:prstGeom prst="rect">
            <a:avLst/>
          </a:prstGeom>
        </p:spPr>
        <p:txBody>
          <a:bodyPr lIns="0" tIns="0" rIns="0" bIns="0" rtlCol="0" anchor="t">
            <a:spAutoFit/>
          </a:bodyPr>
          <a:lstStyle/>
          <a:p>
            <a:pPr algn="l">
              <a:lnSpc>
                <a:spcPts val="3125"/>
              </a:lnSpc>
            </a:pPr>
            <a:r>
              <a:rPr lang="en-US" sz="1937">
                <a:solidFill>
                  <a:srgbClr val="272525"/>
                </a:solidFill>
                <a:latin typeface="Inter"/>
                <a:ea typeface="Inter"/>
                <a:cs typeface="Inter"/>
                <a:sym typeface="Inter"/>
              </a:rPr>
              <a:t>Hàm model.track() của Ultralytics tự động gán ID duy nhất cho mỗi người được phát hiện và duy trì ID khi họ di chuyển, giúp phân biệt từng cá nhân.</a:t>
            </a:r>
          </a:p>
        </p:txBody>
      </p:sp>
      <p:grpSp>
        <p:nvGrpSpPr>
          <p:cNvPr id="13" name="Group 13"/>
          <p:cNvGrpSpPr>
            <a:grpSpLocks noChangeAspect="1"/>
          </p:cNvGrpSpPr>
          <p:nvPr/>
        </p:nvGrpSpPr>
        <p:grpSpPr>
          <a:xfrm>
            <a:off x="8100864" y="4532710"/>
            <a:ext cx="745777" cy="1428750"/>
            <a:chOff x="0" y="0"/>
            <a:chExt cx="994370" cy="1905000"/>
          </a:xfrm>
        </p:grpSpPr>
        <p:sp>
          <p:nvSpPr>
            <p:cNvPr id="14" name="Freeform 14" descr="preencoded.png"/>
            <p:cNvSpPr/>
            <p:nvPr/>
          </p:nvSpPr>
          <p:spPr>
            <a:xfrm>
              <a:off x="0" y="0"/>
              <a:ext cx="994410" cy="1905000"/>
            </a:xfrm>
            <a:custGeom>
              <a:avLst/>
              <a:gdLst/>
              <a:ahLst/>
              <a:cxnLst/>
              <a:rect l="l" t="t" r="r" b="b"/>
              <a:pathLst>
                <a:path w="994410" h="1905000">
                  <a:moveTo>
                    <a:pt x="0" y="0"/>
                  </a:moveTo>
                  <a:lnTo>
                    <a:pt x="994410" y="0"/>
                  </a:lnTo>
                  <a:lnTo>
                    <a:pt x="994410" y="1905000"/>
                  </a:lnTo>
                  <a:lnTo>
                    <a:pt x="0" y="1905000"/>
                  </a:lnTo>
                  <a:lnTo>
                    <a:pt x="0" y="0"/>
                  </a:lnTo>
                  <a:close/>
                </a:path>
              </a:pathLst>
            </a:custGeom>
            <a:blipFill>
              <a:blip r:embed="rId5"/>
              <a:stretch>
                <a:fillRect t="-190" r="4" b="-190"/>
              </a:stretch>
            </a:blipFill>
          </p:spPr>
          <p:txBody>
            <a:bodyPr/>
            <a:lstStyle/>
            <a:p>
              <a:endParaRPr lang="en-GB"/>
            </a:p>
          </p:txBody>
        </p:sp>
      </p:grpSp>
      <p:sp>
        <p:nvSpPr>
          <p:cNvPr id="15" name="TextBox 15"/>
          <p:cNvSpPr txBox="1"/>
          <p:nvPr/>
        </p:nvSpPr>
        <p:spPr>
          <a:xfrm>
            <a:off x="9095185" y="4771728"/>
            <a:ext cx="4161383" cy="395287"/>
          </a:xfrm>
          <a:prstGeom prst="rect">
            <a:avLst/>
          </a:prstGeom>
        </p:spPr>
        <p:txBody>
          <a:bodyPr lIns="0" tIns="0" rIns="0" bIns="0" rtlCol="0" anchor="t">
            <a:spAutoFit/>
          </a:bodyPr>
          <a:lstStyle/>
          <a:p>
            <a:pPr algn="l">
              <a:lnSpc>
                <a:spcPts val="3187"/>
              </a:lnSpc>
            </a:pPr>
            <a:r>
              <a:rPr lang="en-US" sz="2562" b="1">
                <a:solidFill>
                  <a:srgbClr val="272525"/>
                </a:solidFill>
                <a:latin typeface="Inter Bold"/>
                <a:ea typeface="Inter Bold"/>
                <a:cs typeface="Inter Bold"/>
                <a:sym typeface="Inter Bold"/>
              </a:rPr>
              <a:t>Line-Crossing Algorithm</a:t>
            </a:r>
          </a:p>
        </p:txBody>
      </p:sp>
      <p:sp>
        <p:nvSpPr>
          <p:cNvPr id="16" name="TextBox 16"/>
          <p:cNvSpPr txBox="1"/>
          <p:nvPr/>
        </p:nvSpPr>
        <p:spPr>
          <a:xfrm>
            <a:off x="9095185" y="5252443"/>
            <a:ext cx="8322766" cy="1278731"/>
          </a:xfrm>
          <a:prstGeom prst="rect">
            <a:avLst/>
          </a:prstGeom>
        </p:spPr>
        <p:txBody>
          <a:bodyPr lIns="0" tIns="0" rIns="0" bIns="0" rtlCol="0" anchor="t">
            <a:spAutoFit/>
          </a:bodyPr>
          <a:lstStyle/>
          <a:p>
            <a:pPr algn="l">
              <a:lnSpc>
                <a:spcPts val="3125"/>
              </a:lnSpc>
            </a:pPr>
            <a:r>
              <a:rPr lang="en-US" sz="1937">
                <a:solidFill>
                  <a:srgbClr val="272525"/>
                </a:solidFill>
                <a:latin typeface="Inter"/>
                <a:ea typeface="Inter"/>
                <a:cs typeface="Inter"/>
                <a:sym typeface="Inter"/>
              </a:rPr>
              <a:t>Xác định đường ranh giới ảo, theo dõi vị trí tâm của mỗi người, ghi lại trạng thái "bên" (trái/phải của vạch) và tăng bộ đếm khi trạng thái thay đổi.</a:t>
            </a:r>
          </a:p>
        </p:txBody>
      </p:sp>
      <p:grpSp>
        <p:nvGrpSpPr>
          <p:cNvPr id="17" name="Group 17"/>
          <p:cNvGrpSpPr>
            <a:grpSpLocks noChangeAspect="1"/>
          </p:cNvGrpSpPr>
          <p:nvPr/>
        </p:nvGrpSpPr>
        <p:grpSpPr>
          <a:xfrm>
            <a:off x="8473828" y="7028259"/>
            <a:ext cx="745777" cy="1428750"/>
            <a:chOff x="0" y="0"/>
            <a:chExt cx="994370" cy="1905000"/>
          </a:xfrm>
        </p:grpSpPr>
        <p:sp>
          <p:nvSpPr>
            <p:cNvPr id="18" name="Freeform 18" descr="preencoded.png"/>
            <p:cNvSpPr/>
            <p:nvPr/>
          </p:nvSpPr>
          <p:spPr>
            <a:xfrm>
              <a:off x="0" y="0"/>
              <a:ext cx="994410" cy="1905000"/>
            </a:xfrm>
            <a:custGeom>
              <a:avLst/>
              <a:gdLst/>
              <a:ahLst/>
              <a:cxnLst/>
              <a:rect l="l" t="t" r="r" b="b"/>
              <a:pathLst>
                <a:path w="994410" h="1905000">
                  <a:moveTo>
                    <a:pt x="0" y="0"/>
                  </a:moveTo>
                  <a:lnTo>
                    <a:pt x="994410" y="0"/>
                  </a:lnTo>
                  <a:lnTo>
                    <a:pt x="994410" y="1905000"/>
                  </a:lnTo>
                  <a:lnTo>
                    <a:pt x="0" y="1905000"/>
                  </a:lnTo>
                  <a:lnTo>
                    <a:pt x="0" y="0"/>
                  </a:lnTo>
                  <a:close/>
                </a:path>
              </a:pathLst>
            </a:custGeom>
            <a:blipFill>
              <a:blip r:embed="rId5"/>
              <a:stretch>
                <a:fillRect t="-190" r="4" b="-190"/>
              </a:stretch>
            </a:blipFill>
          </p:spPr>
          <p:txBody>
            <a:bodyPr/>
            <a:lstStyle/>
            <a:p>
              <a:endParaRPr lang="en-GB"/>
            </a:p>
          </p:txBody>
        </p:sp>
      </p:grpSp>
      <p:sp>
        <p:nvSpPr>
          <p:cNvPr id="19" name="TextBox 19"/>
          <p:cNvSpPr txBox="1"/>
          <p:nvPr/>
        </p:nvSpPr>
        <p:spPr>
          <a:xfrm>
            <a:off x="9468147" y="7267277"/>
            <a:ext cx="3262907" cy="395287"/>
          </a:xfrm>
          <a:prstGeom prst="rect">
            <a:avLst/>
          </a:prstGeom>
        </p:spPr>
        <p:txBody>
          <a:bodyPr lIns="0" tIns="0" rIns="0" bIns="0" rtlCol="0" anchor="t">
            <a:spAutoFit/>
          </a:bodyPr>
          <a:lstStyle/>
          <a:p>
            <a:pPr algn="l">
              <a:lnSpc>
                <a:spcPts val="3187"/>
              </a:lnSpc>
            </a:pPr>
            <a:r>
              <a:rPr lang="en-US" sz="2562" b="1">
                <a:solidFill>
                  <a:srgbClr val="272525"/>
                </a:solidFill>
                <a:latin typeface="Inter Bold"/>
                <a:ea typeface="Inter Bold"/>
                <a:cs typeface="Inter Bold"/>
                <a:sym typeface="Inter Bold"/>
              </a:rPr>
              <a:t>Đếm Tự Động</a:t>
            </a:r>
          </a:p>
        </p:txBody>
      </p:sp>
      <p:sp>
        <p:nvSpPr>
          <p:cNvPr id="20" name="TextBox 20"/>
          <p:cNvSpPr txBox="1"/>
          <p:nvPr/>
        </p:nvSpPr>
        <p:spPr>
          <a:xfrm>
            <a:off x="9468148" y="7747992"/>
            <a:ext cx="7949804" cy="1278731"/>
          </a:xfrm>
          <a:prstGeom prst="rect">
            <a:avLst/>
          </a:prstGeom>
        </p:spPr>
        <p:txBody>
          <a:bodyPr lIns="0" tIns="0" rIns="0" bIns="0" rtlCol="0" anchor="t">
            <a:spAutoFit/>
          </a:bodyPr>
          <a:lstStyle/>
          <a:p>
            <a:pPr algn="l">
              <a:lnSpc>
                <a:spcPts val="3125"/>
              </a:lnSpc>
            </a:pPr>
            <a:r>
              <a:rPr lang="en-US" sz="1937">
                <a:solidFill>
                  <a:srgbClr val="272525"/>
                </a:solidFill>
                <a:latin typeface="Inter"/>
                <a:ea typeface="Inter"/>
                <a:cs typeface="Inter"/>
                <a:sym typeface="Inter"/>
              </a:rPr>
              <a:t>Khi tâm người vượt qua đường ranh giới (trạng thái thay đổi từ -1 thành +1 hoặc ngược lại), bộ đếm tăng lên 1, ghi lại mỗi lượt người qua cổng.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GB"/>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txBody>
            <a:bodyPr/>
            <a:lstStyle/>
            <a:p>
              <a:endParaRPr lang="en-GB"/>
            </a:p>
          </p:txBody>
        </p:sp>
      </p:grpSp>
      <p:grpSp>
        <p:nvGrpSpPr>
          <p:cNvPr id="6" name="Group 6"/>
          <p:cNvGrpSpPr>
            <a:grpSpLocks noChangeAspect="1"/>
          </p:cNvGrpSpPr>
          <p:nvPr/>
        </p:nvGrpSpPr>
        <p:grpSpPr>
          <a:xfrm>
            <a:off x="0" y="0"/>
            <a:ext cx="6858000" cy="10290572"/>
            <a:chOff x="0" y="0"/>
            <a:chExt cx="9144000" cy="13720763"/>
          </a:xfrm>
        </p:grpSpPr>
        <p:sp>
          <p:nvSpPr>
            <p:cNvPr id="7" name="Freeform 7" descr="preencoded.png"/>
            <p:cNvSpPr/>
            <p:nvPr/>
          </p:nvSpPr>
          <p:spPr>
            <a:xfrm>
              <a:off x="0" y="0"/>
              <a:ext cx="9144000" cy="13720826"/>
            </a:xfrm>
            <a:custGeom>
              <a:avLst/>
              <a:gdLst/>
              <a:ahLst/>
              <a:cxnLst/>
              <a:rect l="l" t="t" r="r" b="b"/>
              <a:pathLst>
                <a:path w="9144000" h="13720826">
                  <a:moveTo>
                    <a:pt x="0" y="0"/>
                  </a:moveTo>
                  <a:lnTo>
                    <a:pt x="9144000" y="0"/>
                  </a:lnTo>
                  <a:lnTo>
                    <a:pt x="9144000" y="13720826"/>
                  </a:lnTo>
                  <a:lnTo>
                    <a:pt x="0" y="13720826"/>
                  </a:lnTo>
                  <a:lnTo>
                    <a:pt x="0" y="0"/>
                  </a:lnTo>
                  <a:close/>
                </a:path>
              </a:pathLst>
            </a:custGeom>
            <a:blipFill>
              <a:blip r:embed="rId4"/>
              <a:stretch>
                <a:fillRect l="-17" r="-17"/>
              </a:stretch>
            </a:blipFill>
          </p:spPr>
          <p:txBody>
            <a:bodyPr/>
            <a:lstStyle/>
            <a:p>
              <a:endParaRPr lang="en-GB"/>
            </a:p>
          </p:txBody>
        </p:sp>
      </p:grpSp>
      <p:sp>
        <p:nvSpPr>
          <p:cNvPr id="8" name="TextBox 8"/>
          <p:cNvSpPr txBox="1"/>
          <p:nvPr/>
        </p:nvSpPr>
        <p:spPr>
          <a:xfrm>
            <a:off x="7808119" y="717947"/>
            <a:ext cx="9529762" cy="1408113"/>
          </a:xfrm>
          <a:prstGeom prst="rect">
            <a:avLst/>
          </a:prstGeom>
        </p:spPr>
        <p:txBody>
          <a:bodyPr lIns="0" tIns="0" rIns="0" bIns="0" rtlCol="0" anchor="t">
            <a:spAutoFit/>
          </a:bodyPr>
          <a:lstStyle/>
          <a:p>
            <a:pPr algn="l">
              <a:lnSpc>
                <a:spcPts val="5562"/>
              </a:lnSpc>
            </a:pPr>
            <a:r>
              <a:rPr lang="en-US" sz="4437" b="1">
                <a:solidFill>
                  <a:srgbClr val="000000"/>
                </a:solidFill>
                <a:latin typeface="Inter Bold"/>
                <a:ea typeface="Inter Bold"/>
                <a:cs typeface="Inter Bold"/>
                <a:sym typeface="Inter Bold"/>
              </a:rPr>
              <a:t>V. KIẾN TRÚC HỆ THỐNG VÀ CÔNG CỤ THỰC HIỆN</a:t>
            </a:r>
          </a:p>
        </p:txBody>
      </p:sp>
      <p:grpSp>
        <p:nvGrpSpPr>
          <p:cNvPr id="9" name="Group 9"/>
          <p:cNvGrpSpPr/>
          <p:nvPr/>
        </p:nvGrpSpPr>
        <p:grpSpPr>
          <a:xfrm>
            <a:off x="7803356" y="2573834"/>
            <a:ext cx="4638675" cy="4230589"/>
            <a:chOff x="0" y="0"/>
            <a:chExt cx="6184900" cy="5640785"/>
          </a:xfrm>
        </p:grpSpPr>
        <p:sp>
          <p:nvSpPr>
            <p:cNvPr id="10" name="Freeform 10"/>
            <p:cNvSpPr/>
            <p:nvPr/>
          </p:nvSpPr>
          <p:spPr>
            <a:xfrm>
              <a:off x="6350" y="6350"/>
              <a:ext cx="6172200" cy="5628132"/>
            </a:xfrm>
            <a:custGeom>
              <a:avLst/>
              <a:gdLst/>
              <a:ahLst/>
              <a:cxnLst/>
              <a:rect l="l" t="t" r="r" b="b"/>
              <a:pathLst>
                <a:path w="6172200" h="5628132">
                  <a:moveTo>
                    <a:pt x="0" y="152019"/>
                  </a:moveTo>
                  <a:cubicBezTo>
                    <a:pt x="0" y="68072"/>
                    <a:pt x="68072" y="0"/>
                    <a:pt x="152019" y="0"/>
                  </a:cubicBezTo>
                  <a:lnTo>
                    <a:pt x="6020181" y="0"/>
                  </a:lnTo>
                  <a:cubicBezTo>
                    <a:pt x="6104128" y="0"/>
                    <a:pt x="6172200" y="68072"/>
                    <a:pt x="6172200" y="152019"/>
                  </a:cubicBezTo>
                  <a:lnTo>
                    <a:pt x="6172200" y="5476113"/>
                  </a:lnTo>
                  <a:cubicBezTo>
                    <a:pt x="6172200" y="5560060"/>
                    <a:pt x="6104128" y="5628132"/>
                    <a:pt x="6020181" y="5628132"/>
                  </a:cubicBezTo>
                  <a:lnTo>
                    <a:pt x="152019" y="5628132"/>
                  </a:lnTo>
                  <a:cubicBezTo>
                    <a:pt x="68072" y="5628132"/>
                    <a:pt x="0" y="5560060"/>
                    <a:pt x="0" y="5476113"/>
                  </a:cubicBezTo>
                  <a:close/>
                </a:path>
              </a:pathLst>
            </a:custGeom>
            <a:solidFill>
              <a:srgbClr val="CCEEFF"/>
            </a:solidFill>
          </p:spPr>
          <p:txBody>
            <a:bodyPr/>
            <a:lstStyle/>
            <a:p>
              <a:endParaRPr lang="en-GB"/>
            </a:p>
          </p:txBody>
        </p:sp>
        <p:sp>
          <p:nvSpPr>
            <p:cNvPr id="11" name="Freeform 11"/>
            <p:cNvSpPr/>
            <p:nvPr/>
          </p:nvSpPr>
          <p:spPr>
            <a:xfrm>
              <a:off x="0" y="0"/>
              <a:ext cx="6184900" cy="5640832"/>
            </a:xfrm>
            <a:custGeom>
              <a:avLst/>
              <a:gdLst/>
              <a:ahLst/>
              <a:cxnLst/>
              <a:rect l="l" t="t" r="r" b="b"/>
              <a:pathLst>
                <a:path w="6184900" h="5640832">
                  <a:moveTo>
                    <a:pt x="0" y="158369"/>
                  </a:moveTo>
                  <a:cubicBezTo>
                    <a:pt x="0" y="70866"/>
                    <a:pt x="70866" y="0"/>
                    <a:pt x="158369" y="0"/>
                  </a:cubicBezTo>
                  <a:lnTo>
                    <a:pt x="6026531" y="0"/>
                  </a:lnTo>
                  <a:lnTo>
                    <a:pt x="6026531" y="6350"/>
                  </a:lnTo>
                  <a:lnTo>
                    <a:pt x="6026531" y="0"/>
                  </a:lnTo>
                  <a:cubicBezTo>
                    <a:pt x="6114034" y="0"/>
                    <a:pt x="6184900" y="70866"/>
                    <a:pt x="6184900" y="158369"/>
                  </a:cubicBezTo>
                  <a:lnTo>
                    <a:pt x="6178550" y="158369"/>
                  </a:lnTo>
                  <a:lnTo>
                    <a:pt x="6184900" y="158369"/>
                  </a:lnTo>
                  <a:lnTo>
                    <a:pt x="6184900" y="5482463"/>
                  </a:lnTo>
                  <a:lnTo>
                    <a:pt x="6178550" y="5482463"/>
                  </a:lnTo>
                  <a:lnTo>
                    <a:pt x="6184900" y="5482463"/>
                  </a:lnTo>
                  <a:cubicBezTo>
                    <a:pt x="6184900" y="5569966"/>
                    <a:pt x="6114034" y="5640832"/>
                    <a:pt x="6026531" y="5640832"/>
                  </a:cubicBezTo>
                  <a:lnTo>
                    <a:pt x="6026531" y="5634482"/>
                  </a:lnTo>
                  <a:lnTo>
                    <a:pt x="6026531" y="5640832"/>
                  </a:lnTo>
                  <a:lnTo>
                    <a:pt x="158369" y="5640832"/>
                  </a:lnTo>
                  <a:lnTo>
                    <a:pt x="158369" y="5634482"/>
                  </a:lnTo>
                  <a:lnTo>
                    <a:pt x="158369" y="5640832"/>
                  </a:lnTo>
                  <a:cubicBezTo>
                    <a:pt x="70866" y="5640832"/>
                    <a:pt x="0" y="5569839"/>
                    <a:pt x="0" y="5482463"/>
                  </a:cubicBezTo>
                  <a:lnTo>
                    <a:pt x="0" y="158369"/>
                  </a:lnTo>
                  <a:lnTo>
                    <a:pt x="6350" y="158369"/>
                  </a:lnTo>
                  <a:lnTo>
                    <a:pt x="0" y="158369"/>
                  </a:lnTo>
                  <a:moveTo>
                    <a:pt x="12700" y="158369"/>
                  </a:moveTo>
                  <a:lnTo>
                    <a:pt x="12700" y="5482463"/>
                  </a:lnTo>
                  <a:lnTo>
                    <a:pt x="6350" y="5482463"/>
                  </a:lnTo>
                  <a:lnTo>
                    <a:pt x="12700" y="5482463"/>
                  </a:lnTo>
                  <a:cubicBezTo>
                    <a:pt x="12700" y="5562854"/>
                    <a:pt x="77978" y="5628132"/>
                    <a:pt x="158369" y="5628132"/>
                  </a:cubicBezTo>
                  <a:lnTo>
                    <a:pt x="6026531" y="5628132"/>
                  </a:lnTo>
                  <a:cubicBezTo>
                    <a:pt x="6107049" y="5628132"/>
                    <a:pt x="6172200" y="5562854"/>
                    <a:pt x="6172200" y="5482463"/>
                  </a:cubicBezTo>
                  <a:lnTo>
                    <a:pt x="6172200" y="158369"/>
                  </a:lnTo>
                  <a:cubicBezTo>
                    <a:pt x="6172200" y="77978"/>
                    <a:pt x="6106922" y="12700"/>
                    <a:pt x="6026531" y="12700"/>
                  </a:cubicBezTo>
                  <a:lnTo>
                    <a:pt x="158369" y="12700"/>
                  </a:lnTo>
                  <a:lnTo>
                    <a:pt x="158369" y="6350"/>
                  </a:lnTo>
                  <a:lnTo>
                    <a:pt x="158369" y="12700"/>
                  </a:lnTo>
                  <a:cubicBezTo>
                    <a:pt x="77978" y="12700"/>
                    <a:pt x="12700" y="77978"/>
                    <a:pt x="12700" y="158369"/>
                  </a:cubicBezTo>
                  <a:close/>
                </a:path>
              </a:pathLst>
            </a:custGeom>
            <a:solidFill>
              <a:srgbClr val="B2D4E5"/>
            </a:solidFill>
          </p:spPr>
          <p:txBody>
            <a:bodyPr/>
            <a:lstStyle/>
            <a:p>
              <a:endParaRPr lang="en-GB"/>
            </a:p>
          </p:txBody>
        </p:sp>
      </p:grpSp>
      <p:sp>
        <p:nvSpPr>
          <p:cNvPr id="12" name="TextBox 12"/>
          <p:cNvSpPr txBox="1"/>
          <p:nvPr/>
        </p:nvSpPr>
        <p:spPr>
          <a:xfrm>
            <a:off x="8089106" y="2831009"/>
            <a:ext cx="3562945" cy="441325"/>
          </a:xfrm>
          <a:prstGeom prst="rect">
            <a:avLst/>
          </a:prstGeom>
        </p:spPr>
        <p:txBody>
          <a:bodyPr lIns="0" tIns="0" rIns="0" bIns="0" rtlCol="0" anchor="t">
            <a:spAutoFit/>
          </a:bodyPr>
          <a:lstStyle/>
          <a:p>
            <a:pPr algn="l">
              <a:lnSpc>
                <a:spcPts val="3500"/>
              </a:lnSpc>
            </a:pPr>
            <a:r>
              <a:rPr lang="en-US" sz="2750" b="1">
                <a:solidFill>
                  <a:srgbClr val="272525"/>
                </a:solidFill>
                <a:latin typeface="Inter Bold"/>
                <a:ea typeface="Inter Bold"/>
                <a:cs typeface="Inter Bold"/>
                <a:sym typeface="Inter Bold"/>
              </a:rPr>
              <a:t>Mô-đun Cài Đặt</a:t>
            </a:r>
          </a:p>
        </p:txBody>
      </p:sp>
      <p:sp>
        <p:nvSpPr>
          <p:cNvPr id="13" name="TextBox 13"/>
          <p:cNvSpPr txBox="1"/>
          <p:nvPr/>
        </p:nvSpPr>
        <p:spPr>
          <a:xfrm>
            <a:off x="8089106" y="3372445"/>
            <a:ext cx="4067175" cy="3376108"/>
          </a:xfrm>
          <a:prstGeom prst="rect">
            <a:avLst/>
          </a:prstGeom>
        </p:spPr>
        <p:txBody>
          <a:bodyPr lIns="0" tIns="0" rIns="0" bIns="0" rtlCol="0" anchor="t">
            <a:spAutoFit/>
          </a:bodyPr>
          <a:lstStyle/>
          <a:p>
            <a:pPr algn="l">
              <a:lnSpc>
                <a:spcPts val="3851"/>
              </a:lnSpc>
            </a:pPr>
            <a:r>
              <a:rPr lang="en-US" sz="2424">
                <a:solidFill>
                  <a:srgbClr val="272525"/>
                </a:solidFill>
                <a:latin typeface="Inter"/>
                <a:ea typeface="Inter"/>
                <a:cs typeface="Inter"/>
                <a:sym typeface="Inter"/>
              </a:rPr>
              <a:t>Cho phép người dùng vẽ đường ranh giới đếm trên khung hình đầu tiên của video bằng chuột. Sự kiện chuột được xử lý để xác định điểm bắt đầu và kết thúc của vạch.</a:t>
            </a:r>
          </a:p>
        </p:txBody>
      </p:sp>
      <p:grpSp>
        <p:nvGrpSpPr>
          <p:cNvPr id="14" name="Group 14"/>
          <p:cNvGrpSpPr/>
          <p:nvPr/>
        </p:nvGrpSpPr>
        <p:grpSpPr>
          <a:xfrm>
            <a:off x="12703969" y="2573834"/>
            <a:ext cx="4638675" cy="4230589"/>
            <a:chOff x="0" y="0"/>
            <a:chExt cx="6184900" cy="5640785"/>
          </a:xfrm>
        </p:grpSpPr>
        <p:sp>
          <p:nvSpPr>
            <p:cNvPr id="15" name="Freeform 15"/>
            <p:cNvSpPr/>
            <p:nvPr/>
          </p:nvSpPr>
          <p:spPr>
            <a:xfrm>
              <a:off x="6350" y="6350"/>
              <a:ext cx="6172200" cy="5628132"/>
            </a:xfrm>
            <a:custGeom>
              <a:avLst/>
              <a:gdLst/>
              <a:ahLst/>
              <a:cxnLst/>
              <a:rect l="l" t="t" r="r" b="b"/>
              <a:pathLst>
                <a:path w="6172200" h="5628132">
                  <a:moveTo>
                    <a:pt x="0" y="152019"/>
                  </a:moveTo>
                  <a:cubicBezTo>
                    <a:pt x="0" y="68072"/>
                    <a:pt x="68072" y="0"/>
                    <a:pt x="152019" y="0"/>
                  </a:cubicBezTo>
                  <a:lnTo>
                    <a:pt x="6020181" y="0"/>
                  </a:lnTo>
                  <a:cubicBezTo>
                    <a:pt x="6104128" y="0"/>
                    <a:pt x="6172200" y="68072"/>
                    <a:pt x="6172200" y="152019"/>
                  </a:cubicBezTo>
                  <a:lnTo>
                    <a:pt x="6172200" y="5476113"/>
                  </a:lnTo>
                  <a:cubicBezTo>
                    <a:pt x="6172200" y="5560060"/>
                    <a:pt x="6104128" y="5628132"/>
                    <a:pt x="6020181" y="5628132"/>
                  </a:cubicBezTo>
                  <a:lnTo>
                    <a:pt x="152019" y="5628132"/>
                  </a:lnTo>
                  <a:cubicBezTo>
                    <a:pt x="68072" y="5628132"/>
                    <a:pt x="0" y="5560060"/>
                    <a:pt x="0" y="5476113"/>
                  </a:cubicBezTo>
                  <a:close/>
                </a:path>
              </a:pathLst>
            </a:custGeom>
            <a:solidFill>
              <a:srgbClr val="CCEEFF"/>
            </a:solidFill>
          </p:spPr>
          <p:txBody>
            <a:bodyPr/>
            <a:lstStyle/>
            <a:p>
              <a:endParaRPr lang="en-GB"/>
            </a:p>
          </p:txBody>
        </p:sp>
        <p:sp>
          <p:nvSpPr>
            <p:cNvPr id="16" name="Freeform 16"/>
            <p:cNvSpPr/>
            <p:nvPr/>
          </p:nvSpPr>
          <p:spPr>
            <a:xfrm>
              <a:off x="0" y="0"/>
              <a:ext cx="6184900" cy="5640832"/>
            </a:xfrm>
            <a:custGeom>
              <a:avLst/>
              <a:gdLst/>
              <a:ahLst/>
              <a:cxnLst/>
              <a:rect l="l" t="t" r="r" b="b"/>
              <a:pathLst>
                <a:path w="6184900" h="5640832">
                  <a:moveTo>
                    <a:pt x="0" y="158369"/>
                  </a:moveTo>
                  <a:cubicBezTo>
                    <a:pt x="0" y="70866"/>
                    <a:pt x="70866" y="0"/>
                    <a:pt x="158369" y="0"/>
                  </a:cubicBezTo>
                  <a:lnTo>
                    <a:pt x="6026531" y="0"/>
                  </a:lnTo>
                  <a:lnTo>
                    <a:pt x="6026531" y="6350"/>
                  </a:lnTo>
                  <a:lnTo>
                    <a:pt x="6026531" y="0"/>
                  </a:lnTo>
                  <a:cubicBezTo>
                    <a:pt x="6114034" y="0"/>
                    <a:pt x="6184900" y="70866"/>
                    <a:pt x="6184900" y="158369"/>
                  </a:cubicBezTo>
                  <a:lnTo>
                    <a:pt x="6178550" y="158369"/>
                  </a:lnTo>
                  <a:lnTo>
                    <a:pt x="6184900" y="158369"/>
                  </a:lnTo>
                  <a:lnTo>
                    <a:pt x="6184900" y="5482463"/>
                  </a:lnTo>
                  <a:lnTo>
                    <a:pt x="6178550" y="5482463"/>
                  </a:lnTo>
                  <a:lnTo>
                    <a:pt x="6184900" y="5482463"/>
                  </a:lnTo>
                  <a:cubicBezTo>
                    <a:pt x="6184900" y="5569966"/>
                    <a:pt x="6114034" y="5640832"/>
                    <a:pt x="6026531" y="5640832"/>
                  </a:cubicBezTo>
                  <a:lnTo>
                    <a:pt x="6026531" y="5634482"/>
                  </a:lnTo>
                  <a:lnTo>
                    <a:pt x="6026531" y="5640832"/>
                  </a:lnTo>
                  <a:lnTo>
                    <a:pt x="158369" y="5640832"/>
                  </a:lnTo>
                  <a:lnTo>
                    <a:pt x="158369" y="5634482"/>
                  </a:lnTo>
                  <a:lnTo>
                    <a:pt x="158369" y="5640832"/>
                  </a:lnTo>
                  <a:cubicBezTo>
                    <a:pt x="70866" y="5640832"/>
                    <a:pt x="0" y="5569839"/>
                    <a:pt x="0" y="5482463"/>
                  </a:cubicBezTo>
                  <a:lnTo>
                    <a:pt x="0" y="158369"/>
                  </a:lnTo>
                  <a:lnTo>
                    <a:pt x="6350" y="158369"/>
                  </a:lnTo>
                  <a:lnTo>
                    <a:pt x="0" y="158369"/>
                  </a:lnTo>
                  <a:moveTo>
                    <a:pt x="12700" y="158369"/>
                  </a:moveTo>
                  <a:lnTo>
                    <a:pt x="12700" y="5482463"/>
                  </a:lnTo>
                  <a:lnTo>
                    <a:pt x="6350" y="5482463"/>
                  </a:lnTo>
                  <a:lnTo>
                    <a:pt x="12700" y="5482463"/>
                  </a:lnTo>
                  <a:cubicBezTo>
                    <a:pt x="12700" y="5562854"/>
                    <a:pt x="77978" y="5628132"/>
                    <a:pt x="158369" y="5628132"/>
                  </a:cubicBezTo>
                  <a:lnTo>
                    <a:pt x="6026531" y="5628132"/>
                  </a:lnTo>
                  <a:cubicBezTo>
                    <a:pt x="6107049" y="5628132"/>
                    <a:pt x="6172200" y="5562854"/>
                    <a:pt x="6172200" y="5482463"/>
                  </a:cubicBezTo>
                  <a:lnTo>
                    <a:pt x="6172200" y="158369"/>
                  </a:lnTo>
                  <a:cubicBezTo>
                    <a:pt x="6172200" y="77978"/>
                    <a:pt x="6106922" y="12700"/>
                    <a:pt x="6026531" y="12700"/>
                  </a:cubicBezTo>
                  <a:lnTo>
                    <a:pt x="158369" y="12700"/>
                  </a:lnTo>
                  <a:lnTo>
                    <a:pt x="158369" y="6350"/>
                  </a:lnTo>
                  <a:lnTo>
                    <a:pt x="158369" y="12700"/>
                  </a:lnTo>
                  <a:cubicBezTo>
                    <a:pt x="77978" y="12700"/>
                    <a:pt x="12700" y="77978"/>
                    <a:pt x="12700" y="158369"/>
                  </a:cubicBezTo>
                  <a:close/>
                </a:path>
              </a:pathLst>
            </a:custGeom>
            <a:solidFill>
              <a:srgbClr val="B2D4E5"/>
            </a:solidFill>
          </p:spPr>
          <p:txBody>
            <a:bodyPr/>
            <a:lstStyle/>
            <a:p>
              <a:endParaRPr lang="en-GB"/>
            </a:p>
          </p:txBody>
        </p:sp>
      </p:grpSp>
      <p:sp>
        <p:nvSpPr>
          <p:cNvPr id="17" name="TextBox 17"/>
          <p:cNvSpPr txBox="1"/>
          <p:nvPr/>
        </p:nvSpPr>
        <p:spPr>
          <a:xfrm>
            <a:off x="12989719" y="2831009"/>
            <a:ext cx="4067175" cy="879475"/>
          </a:xfrm>
          <a:prstGeom prst="rect">
            <a:avLst/>
          </a:prstGeom>
        </p:spPr>
        <p:txBody>
          <a:bodyPr lIns="0" tIns="0" rIns="0" bIns="0" rtlCol="0" anchor="t">
            <a:spAutoFit/>
          </a:bodyPr>
          <a:lstStyle/>
          <a:p>
            <a:pPr algn="l">
              <a:lnSpc>
                <a:spcPts val="3500"/>
              </a:lnSpc>
            </a:pPr>
            <a:r>
              <a:rPr lang="en-US" sz="2750" b="1">
                <a:solidFill>
                  <a:srgbClr val="272525"/>
                </a:solidFill>
                <a:latin typeface="Inter Bold"/>
                <a:ea typeface="Inter Bold"/>
                <a:cs typeface="Inter Bold"/>
                <a:sym typeface="Inter Bold"/>
              </a:rPr>
              <a:t>Mô-đun Phát Hiện &amp; Tracking</a:t>
            </a:r>
          </a:p>
        </p:txBody>
      </p:sp>
      <p:sp>
        <p:nvSpPr>
          <p:cNvPr id="18" name="TextBox 18"/>
          <p:cNvSpPr txBox="1"/>
          <p:nvPr/>
        </p:nvSpPr>
        <p:spPr>
          <a:xfrm>
            <a:off x="12989719" y="3817739"/>
            <a:ext cx="4067175" cy="2890333"/>
          </a:xfrm>
          <a:prstGeom prst="rect">
            <a:avLst/>
          </a:prstGeom>
        </p:spPr>
        <p:txBody>
          <a:bodyPr lIns="0" tIns="0" rIns="0" bIns="0" rtlCol="0" anchor="t">
            <a:spAutoFit/>
          </a:bodyPr>
          <a:lstStyle/>
          <a:p>
            <a:pPr algn="l">
              <a:lnSpc>
                <a:spcPts val="3851"/>
              </a:lnSpc>
            </a:pPr>
            <a:r>
              <a:rPr lang="en-US" sz="2424">
                <a:solidFill>
                  <a:srgbClr val="272525"/>
                </a:solidFill>
                <a:latin typeface="Inter"/>
                <a:ea typeface="Inter"/>
                <a:cs typeface="Inter"/>
                <a:sym typeface="Inter"/>
              </a:rPr>
              <a:t>Xử lý từng khung hình video, sử dụng YOLOv8 để phát hiện và theo dõi. Trả về vị trí, kích thước hộp giới hạn và ID duy nhất của mỗi người được phát hiện.</a:t>
            </a:r>
          </a:p>
        </p:txBody>
      </p:sp>
      <p:grpSp>
        <p:nvGrpSpPr>
          <p:cNvPr id="19" name="Group 19"/>
          <p:cNvGrpSpPr/>
          <p:nvPr/>
        </p:nvGrpSpPr>
        <p:grpSpPr>
          <a:xfrm>
            <a:off x="7803356" y="7066360"/>
            <a:ext cx="9539288" cy="2482454"/>
            <a:chOff x="0" y="0"/>
            <a:chExt cx="12719050" cy="3309938"/>
          </a:xfrm>
        </p:grpSpPr>
        <p:sp>
          <p:nvSpPr>
            <p:cNvPr id="20" name="Freeform 20"/>
            <p:cNvSpPr/>
            <p:nvPr/>
          </p:nvSpPr>
          <p:spPr>
            <a:xfrm>
              <a:off x="6350" y="6350"/>
              <a:ext cx="12706350" cy="3297301"/>
            </a:xfrm>
            <a:custGeom>
              <a:avLst/>
              <a:gdLst/>
              <a:ahLst/>
              <a:cxnLst/>
              <a:rect l="l" t="t" r="r" b="b"/>
              <a:pathLst>
                <a:path w="12706350" h="3297301">
                  <a:moveTo>
                    <a:pt x="0" y="152019"/>
                  </a:moveTo>
                  <a:cubicBezTo>
                    <a:pt x="0" y="68072"/>
                    <a:pt x="68326" y="0"/>
                    <a:pt x="152527" y="0"/>
                  </a:cubicBezTo>
                  <a:lnTo>
                    <a:pt x="12553823" y="0"/>
                  </a:lnTo>
                  <a:cubicBezTo>
                    <a:pt x="12638024" y="0"/>
                    <a:pt x="12706350" y="68072"/>
                    <a:pt x="12706350" y="152019"/>
                  </a:cubicBezTo>
                  <a:lnTo>
                    <a:pt x="12706350" y="3145155"/>
                  </a:lnTo>
                  <a:cubicBezTo>
                    <a:pt x="12706350" y="3229102"/>
                    <a:pt x="12638024" y="3297174"/>
                    <a:pt x="12553823" y="3297174"/>
                  </a:cubicBezTo>
                  <a:lnTo>
                    <a:pt x="152527" y="3297174"/>
                  </a:lnTo>
                  <a:cubicBezTo>
                    <a:pt x="68326" y="3297301"/>
                    <a:pt x="0" y="3229229"/>
                    <a:pt x="0" y="3145155"/>
                  </a:cubicBezTo>
                  <a:close/>
                </a:path>
              </a:pathLst>
            </a:custGeom>
            <a:solidFill>
              <a:srgbClr val="CCEEFF"/>
            </a:solidFill>
          </p:spPr>
          <p:txBody>
            <a:bodyPr/>
            <a:lstStyle/>
            <a:p>
              <a:endParaRPr lang="en-GB"/>
            </a:p>
          </p:txBody>
        </p:sp>
        <p:sp>
          <p:nvSpPr>
            <p:cNvPr id="21" name="Freeform 21"/>
            <p:cNvSpPr/>
            <p:nvPr/>
          </p:nvSpPr>
          <p:spPr>
            <a:xfrm>
              <a:off x="0" y="0"/>
              <a:ext cx="12719050" cy="3310001"/>
            </a:xfrm>
            <a:custGeom>
              <a:avLst/>
              <a:gdLst/>
              <a:ahLst/>
              <a:cxnLst/>
              <a:rect l="l" t="t" r="r" b="b"/>
              <a:pathLst>
                <a:path w="12719050" h="3310001">
                  <a:moveTo>
                    <a:pt x="0" y="158369"/>
                  </a:moveTo>
                  <a:cubicBezTo>
                    <a:pt x="0" y="70866"/>
                    <a:pt x="71120" y="0"/>
                    <a:pt x="158877" y="0"/>
                  </a:cubicBezTo>
                  <a:lnTo>
                    <a:pt x="12560173" y="0"/>
                  </a:lnTo>
                  <a:lnTo>
                    <a:pt x="12560173" y="6350"/>
                  </a:lnTo>
                  <a:lnTo>
                    <a:pt x="12560173" y="0"/>
                  </a:lnTo>
                  <a:cubicBezTo>
                    <a:pt x="12647930" y="0"/>
                    <a:pt x="12719050" y="70866"/>
                    <a:pt x="12719050" y="158369"/>
                  </a:cubicBezTo>
                  <a:lnTo>
                    <a:pt x="12712700" y="158369"/>
                  </a:lnTo>
                  <a:lnTo>
                    <a:pt x="12719050" y="158369"/>
                  </a:lnTo>
                  <a:lnTo>
                    <a:pt x="12719050" y="3151505"/>
                  </a:lnTo>
                  <a:lnTo>
                    <a:pt x="12712700" y="3151505"/>
                  </a:lnTo>
                  <a:lnTo>
                    <a:pt x="12719050" y="3151505"/>
                  </a:lnTo>
                  <a:cubicBezTo>
                    <a:pt x="12719050" y="3239008"/>
                    <a:pt x="12647930" y="3309874"/>
                    <a:pt x="12560173" y="3309874"/>
                  </a:cubicBezTo>
                  <a:lnTo>
                    <a:pt x="12560173" y="3303524"/>
                  </a:lnTo>
                  <a:lnTo>
                    <a:pt x="12560173" y="3309874"/>
                  </a:lnTo>
                  <a:lnTo>
                    <a:pt x="158877" y="3309874"/>
                  </a:lnTo>
                  <a:lnTo>
                    <a:pt x="158877" y="3303524"/>
                  </a:lnTo>
                  <a:lnTo>
                    <a:pt x="158877" y="3309874"/>
                  </a:lnTo>
                  <a:cubicBezTo>
                    <a:pt x="71120" y="3310001"/>
                    <a:pt x="0" y="3239008"/>
                    <a:pt x="0" y="3151505"/>
                  </a:cubicBezTo>
                  <a:lnTo>
                    <a:pt x="0" y="158369"/>
                  </a:lnTo>
                  <a:lnTo>
                    <a:pt x="6350" y="158369"/>
                  </a:lnTo>
                  <a:lnTo>
                    <a:pt x="0" y="158369"/>
                  </a:lnTo>
                  <a:moveTo>
                    <a:pt x="12700" y="158369"/>
                  </a:moveTo>
                  <a:lnTo>
                    <a:pt x="12700" y="3151505"/>
                  </a:lnTo>
                  <a:lnTo>
                    <a:pt x="6350" y="3151505"/>
                  </a:lnTo>
                  <a:lnTo>
                    <a:pt x="12700" y="3151505"/>
                  </a:lnTo>
                  <a:cubicBezTo>
                    <a:pt x="12700" y="3231896"/>
                    <a:pt x="78105" y="3297174"/>
                    <a:pt x="158877" y="3297174"/>
                  </a:cubicBezTo>
                  <a:lnTo>
                    <a:pt x="12560173" y="3297174"/>
                  </a:lnTo>
                  <a:cubicBezTo>
                    <a:pt x="12640945" y="3297174"/>
                    <a:pt x="12706350" y="3231896"/>
                    <a:pt x="12706350" y="3151505"/>
                  </a:cubicBezTo>
                  <a:lnTo>
                    <a:pt x="12706350" y="158369"/>
                  </a:lnTo>
                  <a:cubicBezTo>
                    <a:pt x="12706350" y="77978"/>
                    <a:pt x="12640945" y="12700"/>
                    <a:pt x="12560173" y="12700"/>
                  </a:cubicBezTo>
                  <a:lnTo>
                    <a:pt x="158877" y="12700"/>
                  </a:lnTo>
                  <a:lnTo>
                    <a:pt x="158877" y="6350"/>
                  </a:lnTo>
                  <a:lnTo>
                    <a:pt x="158877" y="12700"/>
                  </a:lnTo>
                  <a:cubicBezTo>
                    <a:pt x="78105" y="12700"/>
                    <a:pt x="12700" y="77978"/>
                    <a:pt x="12700" y="158369"/>
                  </a:cubicBezTo>
                  <a:close/>
                </a:path>
              </a:pathLst>
            </a:custGeom>
            <a:solidFill>
              <a:srgbClr val="B2D4E5"/>
            </a:solidFill>
          </p:spPr>
          <p:txBody>
            <a:bodyPr/>
            <a:lstStyle/>
            <a:p>
              <a:endParaRPr lang="en-GB"/>
            </a:p>
          </p:txBody>
        </p:sp>
      </p:grpSp>
      <p:sp>
        <p:nvSpPr>
          <p:cNvPr id="22" name="TextBox 22"/>
          <p:cNvSpPr txBox="1"/>
          <p:nvPr/>
        </p:nvSpPr>
        <p:spPr>
          <a:xfrm>
            <a:off x="8089106" y="7323535"/>
            <a:ext cx="3562945" cy="441325"/>
          </a:xfrm>
          <a:prstGeom prst="rect">
            <a:avLst/>
          </a:prstGeom>
        </p:spPr>
        <p:txBody>
          <a:bodyPr lIns="0" tIns="0" rIns="0" bIns="0" rtlCol="0" anchor="t">
            <a:spAutoFit/>
          </a:bodyPr>
          <a:lstStyle/>
          <a:p>
            <a:pPr algn="l">
              <a:lnSpc>
                <a:spcPts val="3500"/>
              </a:lnSpc>
            </a:pPr>
            <a:r>
              <a:rPr lang="en-US" sz="2750" b="1">
                <a:solidFill>
                  <a:srgbClr val="272525"/>
                </a:solidFill>
                <a:latin typeface="Inter Bold"/>
                <a:ea typeface="Inter Bold"/>
                <a:cs typeface="Inter Bold"/>
                <a:sym typeface="Inter Bold"/>
              </a:rPr>
              <a:t>Mô-đun Đếm</a:t>
            </a:r>
          </a:p>
        </p:txBody>
      </p:sp>
      <p:sp>
        <p:nvSpPr>
          <p:cNvPr id="23" name="TextBox 23"/>
          <p:cNvSpPr txBox="1"/>
          <p:nvPr/>
        </p:nvSpPr>
        <p:spPr>
          <a:xfrm>
            <a:off x="8089106" y="7864971"/>
            <a:ext cx="8967788" cy="1433008"/>
          </a:xfrm>
          <a:prstGeom prst="rect">
            <a:avLst/>
          </a:prstGeom>
        </p:spPr>
        <p:txBody>
          <a:bodyPr lIns="0" tIns="0" rIns="0" bIns="0" rtlCol="0" anchor="t">
            <a:spAutoFit/>
          </a:bodyPr>
          <a:lstStyle/>
          <a:p>
            <a:pPr algn="l">
              <a:lnSpc>
                <a:spcPts val="3851"/>
              </a:lnSpc>
            </a:pPr>
            <a:r>
              <a:rPr lang="en-US" sz="2424">
                <a:solidFill>
                  <a:srgbClr val="272525"/>
                </a:solidFill>
                <a:latin typeface="Inter"/>
                <a:ea typeface="Inter"/>
                <a:cs typeface="Inter"/>
                <a:sym typeface="Inter"/>
              </a:rPr>
              <a:t>Áp dụng thuật toán line-crossing để xác định khi nào một người vượt qua ranh giới. Cập nhật bộ đếm tự động và hiển thị kết quả real-time trên video.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GB"/>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txBody>
            <a:bodyPr/>
            <a:lstStyle/>
            <a:p>
              <a:endParaRPr lang="en-GB" dirty="0"/>
            </a:p>
          </p:txBody>
        </p:sp>
      </p:grpSp>
      <p:sp>
        <p:nvSpPr>
          <p:cNvPr id="6" name="TextBox 6"/>
          <p:cNvSpPr txBox="1"/>
          <p:nvPr/>
        </p:nvSpPr>
        <p:spPr>
          <a:xfrm>
            <a:off x="987475" y="645319"/>
            <a:ext cx="11115674" cy="738187"/>
          </a:xfrm>
          <a:prstGeom prst="rect">
            <a:avLst/>
          </a:prstGeom>
        </p:spPr>
        <p:txBody>
          <a:bodyPr lIns="0" tIns="0" rIns="0" bIns="0" rtlCol="0" anchor="t">
            <a:spAutoFit/>
          </a:bodyPr>
          <a:lstStyle/>
          <a:p>
            <a:pPr algn="l">
              <a:lnSpc>
                <a:spcPts val="5812"/>
              </a:lnSpc>
            </a:pPr>
            <a:r>
              <a:rPr lang="en-US" sz="4687" b="1">
                <a:solidFill>
                  <a:srgbClr val="000000"/>
                </a:solidFill>
                <a:latin typeface="Inter Bold"/>
                <a:ea typeface="Inter Bold"/>
                <a:cs typeface="Inter Bold"/>
                <a:sym typeface="Inter Bold"/>
              </a:rPr>
              <a:t>VI. CHI TIẾT TRIỂN KHAI THUẬT TOÁN</a:t>
            </a:r>
          </a:p>
        </p:txBody>
      </p:sp>
      <p:sp>
        <p:nvSpPr>
          <p:cNvPr id="7" name="TextBox 7"/>
          <p:cNvSpPr txBox="1"/>
          <p:nvPr/>
        </p:nvSpPr>
        <p:spPr>
          <a:xfrm>
            <a:off x="987475" y="2225214"/>
            <a:ext cx="5407803" cy="603478"/>
          </a:xfrm>
          <a:prstGeom prst="rect">
            <a:avLst/>
          </a:prstGeom>
        </p:spPr>
        <p:txBody>
          <a:bodyPr lIns="0" tIns="0" rIns="0" bIns="0" rtlCol="0" anchor="t">
            <a:spAutoFit/>
          </a:bodyPr>
          <a:lstStyle/>
          <a:p>
            <a:pPr algn="l">
              <a:lnSpc>
                <a:spcPts val="5028"/>
              </a:lnSpc>
            </a:pPr>
            <a:r>
              <a:rPr lang="en-US" sz="3087" b="1">
                <a:solidFill>
                  <a:srgbClr val="272525"/>
                </a:solidFill>
                <a:latin typeface="Inter Bold"/>
                <a:ea typeface="Inter Bold"/>
                <a:cs typeface="Inter Bold"/>
                <a:sym typeface="Inter Bold"/>
              </a:rPr>
              <a:t>Quy Trình Logic Đếm Chính:</a:t>
            </a:r>
          </a:p>
        </p:txBody>
      </p:sp>
      <p:grpSp>
        <p:nvGrpSpPr>
          <p:cNvPr id="8" name="Group 8"/>
          <p:cNvGrpSpPr/>
          <p:nvPr/>
        </p:nvGrpSpPr>
        <p:grpSpPr>
          <a:xfrm>
            <a:off x="987475" y="3803749"/>
            <a:ext cx="647402" cy="647402"/>
            <a:chOff x="0" y="0"/>
            <a:chExt cx="863203" cy="863203"/>
          </a:xfrm>
        </p:grpSpPr>
        <p:sp>
          <p:nvSpPr>
            <p:cNvPr id="9" name="Freeform 9"/>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CCEEFF"/>
            </a:solidFill>
          </p:spPr>
          <p:txBody>
            <a:bodyPr/>
            <a:lstStyle/>
            <a:p>
              <a:endParaRPr lang="en-GB"/>
            </a:p>
          </p:txBody>
        </p:sp>
        <p:sp>
          <p:nvSpPr>
            <p:cNvPr id="10" name="Freeform 10"/>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B2D4E5"/>
            </a:solidFill>
          </p:spPr>
          <p:txBody>
            <a:bodyPr/>
            <a:lstStyle/>
            <a:p>
              <a:endParaRPr lang="en-GB"/>
            </a:p>
          </p:txBody>
        </p:sp>
      </p:grpSp>
      <p:sp>
        <p:nvSpPr>
          <p:cNvPr id="11" name="TextBox 11"/>
          <p:cNvSpPr txBox="1"/>
          <p:nvPr/>
        </p:nvSpPr>
        <p:spPr>
          <a:xfrm>
            <a:off x="1087934" y="3905548"/>
            <a:ext cx="446485" cy="469900"/>
          </a:xfrm>
          <a:prstGeom prst="rect">
            <a:avLst/>
          </a:prstGeom>
        </p:spPr>
        <p:txBody>
          <a:bodyPr lIns="0" tIns="0" rIns="0" bIns="0" rtlCol="0" anchor="t">
            <a:spAutoFit/>
          </a:bodyPr>
          <a:lstStyle/>
          <a:p>
            <a:pPr algn="ctr">
              <a:lnSpc>
                <a:spcPts val="3500"/>
              </a:lnSpc>
            </a:pPr>
            <a:r>
              <a:rPr lang="en-US" sz="3500" b="1">
                <a:solidFill>
                  <a:srgbClr val="272525"/>
                </a:solidFill>
                <a:latin typeface="Inter Bold"/>
                <a:ea typeface="Inter Bold"/>
                <a:cs typeface="Inter Bold"/>
                <a:sym typeface="Inter Bold"/>
              </a:rPr>
              <a:t>1</a:t>
            </a:r>
          </a:p>
        </p:txBody>
      </p:sp>
      <p:sp>
        <p:nvSpPr>
          <p:cNvPr id="12" name="TextBox 12"/>
          <p:cNvSpPr txBox="1"/>
          <p:nvPr/>
        </p:nvSpPr>
        <p:spPr>
          <a:xfrm>
            <a:off x="1913633" y="3877270"/>
            <a:ext cx="4877828" cy="463550"/>
          </a:xfrm>
          <a:prstGeom prst="rect">
            <a:avLst/>
          </a:prstGeom>
        </p:spPr>
        <p:txBody>
          <a:bodyPr lIns="0" tIns="0" rIns="0" bIns="0" rtlCol="0" anchor="t">
            <a:spAutoFit/>
          </a:bodyPr>
          <a:lstStyle/>
          <a:p>
            <a:pPr algn="l">
              <a:lnSpc>
                <a:spcPts val="3625"/>
              </a:lnSpc>
            </a:pPr>
            <a:r>
              <a:rPr lang="en-US" sz="2874" b="1">
                <a:solidFill>
                  <a:srgbClr val="272525"/>
                </a:solidFill>
                <a:latin typeface="Inter Bold"/>
                <a:ea typeface="Inter Bold"/>
                <a:cs typeface="Inter Bold"/>
                <a:sym typeface="Inter Bold"/>
              </a:rPr>
              <a:t>Trích Xuất Thông Tin</a:t>
            </a:r>
          </a:p>
        </p:txBody>
      </p:sp>
      <p:sp>
        <p:nvSpPr>
          <p:cNvPr id="13" name="TextBox 13"/>
          <p:cNvSpPr txBox="1"/>
          <p:nvPr/>
        </p:nvSpPr>
        <p:spPr>
          <a:xfrm>
            <a:off x="1913633" y="4426744"/>
            <a:ext cx="7053114" cy="1521959"/>
          </a:xfrm>
          <a:prstGeom prst="rect">
            <a:avLst/>
          </a:prstGeom>
        </p:spPr>
        <p:txBody>
          <a:bodyPr lIns="0" tIns="0" rIns="0" bIns="0" rtlCol="0" anchor="t">
            <a:spAutoFit/>
          </a:bodyPr>
          <a:lstStyle/>
          <a:p>
            <a:pPr algn="l">
              <a:lnSpc>
                <a:spcPts val="4051"/>
              </a:lnSpc>
            </a:pPr>
            <a:r>
              <a:rPr lang="en-US" sz="2487">
                <a:solidFill>
                  <a:srgbClr val="272525"/>
                </a:solidFill>
                <a:latin typeface="Inter"/>
                <a:ea typeface="Inter"/>
                <a:cs typeface="Inter"/>
                <a:sym typeface="Inter"/>
              </a:rPr>
              <a:t>Hệ thống lấy track IDs và tọa độ hộp giới hạn từ kết quả YOLOv8, tính toán tâm của mỗi hộp: current_center = (x, y).</a:t>
            </a:r>
          </a:p>
        </p:txBody>
      </p:sp>
      <p:grpSp>
        <p:nvGrpSpPr>
          <p:cNvPr id="14" name="Group 14"/>
          <p:cNvGrpSpPr/>
          <p:nvPr/>
        </p:nvGrpSpPr>
        <p:grpSpPr>
          <a:xfrm>
            <a:off x="9316342" y="3803749"/>
            <a:ext cx="647403" cy="647402"/>
            <a:chOff x="0" y="0"/>
            <a:chExt cx="863203" cy="863203"/>
          </a:xfrm>
        </p:grpSpPr>
        <p:sp>
          <p:nvSpPr>
            <p:cNvPr id="15" name="Freeform 15"/>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CCEEFF"/>
            </a:solidFill>
          </p:spPr>
          <p:txBody>
            <a:bodyPr/>
            <a:lstStyle/>
            <a:p>
              <a:endParaRPr lang="en-GB"/>
            </a:p>
          </p:txBody>
        </p:sp>
        <p:sp>
          <p:nvSpPr>
            <p:cNvPr id="16" name="Freeform 16"/>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B2D4E5"/>
            </a:solidFill>
          </p:spPr>
          <p:txBody>
            <a:bodyPr/>
            <a:lstStyle/>
            <a:p>
              <a:endParaRPr lang="en-GB"/>
            </a:p>
          </p:txBody>
        </p:sp>
      </p:grpSp>
      <p:sp>
        <p:nvSpPr>
          <p:cNvPr id="17" name="TextBox 17"/>
          <p:cNvSpPr txBox="1"/>
          <p:nvPr/>
        </p:nvSpPr>
        <p:spPr>
          <a:xfrm>
            <a:off x="9416802" y="3905548"/>
            <a:ext cx="446485" cy="469900"/>
          </a:xfrm>
          <a:prstGeom prst="rect">
            <a:avLst/>
          </a:prstGeom>
        </p:spPr>
        <p:txBody>
          <a:bodyPr lIns="0" tIns="0" rIns="0" bIns="0" rtlCol="0" anchor="t">
            <a:spAutoFit/>
          </a:bodyPr>
          <a:lstStyle/>
          <a:p>
            <a:pPr algn="ctr">
              <a:lnSpc>
                <a:spcPts val="3500"/>
              </a:lnSpc>
            </a:pPr>
            <a:r>
              <a:rPr lang="en-US" sz="3500" b="1">
                <a:solidFill>
                  <a:srgbClr val="272525"/>
                </a:solidFill>
                <a:latin typeface="Inter Bold"/>
                <a:ea typeface="Inter Bold"/>
                <a:cs typeface="Inter Bold"/>
                <a:sym typeface="Inter Bold"/>
              </a:rPr>
              <a:t>2</a:t>
            </a:r>
          </a:p>
        </p:txBody>
      </p:sp>
      <p:sp>
        <p:nvSpPr>
          <p:cNvPr id="18" name="TextBox 18"/>
          <p:cNvSpPr txBox="1"/>
          <p:nvPr/>
        </p:nvSpPr>
        <p:spPr>
          <a:xfrm>
            <a:off x="10242500" y="3877270"/>
            <a:ext cx="5096981" cy="463550"/>
          </a:xfrm>
          <a:prstGeom prst="rect">
            <a:avLst/>
          </a:prstGeom>
        </p:spPr>
        <p:txBody>
          <a:bodyPr lIns="0" tIns="0" rIns="0" bIns="0" rtlCol="0" anchor="t">
            <a:spAutoFit/>
          </a:bodyPr>
          <a:lstStyle/>
          <a:p>
            <a:pPr algn="l">
              <a:lnSpc>
                <a:spcPts val="3625"/>
              </a:lnSpc>
            </a:pPr>
            <a:r>
              <a:rPr lang="en-US" sz="2874" b="1">
                <a:solidFill>
                  <a:srgbClr val="272525"/>
                </a:solidFill>
                <a:latin typeface="Inter Bold"/>
                <a:ea typeface="Inter Bold"/>
                <a:cs typeface="Inter Bold"/>
                <a:sym typeface="Inter Bold"/>
              </a:rPr>
              <a:t>Kiểm Tra Vị Trí Bên Vạch</a:t>
            </a:r>
          </a:p>
        </p:txBody>
      </p:sp>
      <p:sp>
        <p:nvSpPr>
          <p:cNvPr id="19" name="TextBox 19"/>
          <p:cNvSpPr txBox="1"/>
          <p:nvPr/>
        </p:nvSpPr>
        <p:spPr>
          <a:xfrm>
            <a:off x="10242500" y="4426744"/>
            <a:ext cx="7053262" cy="1521959"/>
          </a:xfrm>
          <a:prstGeom prst="rect">
            <a:avLst/>
          </a:prstGeom>
        </p:spPr>
        <p:txBody>
          <a:bodyPr lIns="0" tIns="0" rIns="0" bIns="0" rtlCol="0" anchor="t">
            <a:spAutoFit/>
          </a:bodyPr>
          <a:lstStyle/>
          <a:p>
            <a:pPr algn="l">
              <a:lnSpc>
                <a:spcPts val="4051"/>
              </a:lnSpc>
            </a:pPr>
            <a:r>
              <a:rPr lang="en-US" sz="2487">
                <a:solidFill>
                  <a:srgbClr val="272525"/>
                </a:solidFill>
                <a:latin typeface="Inter"/>
                <a:ea typeface="Inter"/>
                <a:cs typeface="Inter"/>
                <a:sym typeface="Inter"/>
              </a:rPr>
              <a:t>Dùng công thức tích chéo 2D để xác định mỗi người nằm bên nào của đường thẳng: +1 (một bên), -1 (bên kia) hoặc 0 (trên vạch).</a:t>
            </a:r>
          </a:p>
        </p:txBody>
      </p:sp>
      <p:grpSp>
        <p:nvGrpSpPr>
          <p:cNvPr id="20" name="Group 20"/>
          <p:cNvGrpSpPr/>
          <p:nvPr/>
        </p:nvGrpSpPr>
        <p:grpSpPr>
          <a:xfrm>
            <a:off x="987475" y="6464201"/>
            <a:ext cx="647402" cy="647403"/>
            <a:chOff x="0" y="0"/>
            <a:chExt cx="863203" cy="863203"/>
          </a:xfrm>
        </p:grpSpPr>
        <p:sp>
          <p:nvSpPr>
            <p:cNvPr id="21" name="Freeform 21"/>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CCEEFF"/>
            </a:solidFill>
          </p:spPr>
          <p:txBody>
            <a:bodyPr/>
            <a:lstStyle/>
            <a:p>
              <a:endParaRPr lang="en-GB"/>
            </a:p>
          </p:txBody>
        </p:sp>
        <p:sp>
          <p:nvSpPr>
            <p:cNvPr id="22" name="Freeform 22"/>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B2D4E5"/>
            </a:solidFill>
          </p:spPr>
          <p:txBody>
            <a:bodyPr/>
            <a:lstStyle/>
            <a:p>
              <a:endParaRPr lang="en-GB"/>
            </a:p>
          </p:txBody>
        </p:sp>
      </p:grpSp>
      <p:sp>
        <p:nvSpPr>
          <p:cNvPr id="23" name="TextBox 23"/>
          <p:cNvSpPr txBox="1"/>
          <p:nvPr/>
        </p:nvSpPr>
        <p:spPr>
          <a:xfrm>
            <a:off x="1087934" y="6565999"/>
            <a:ext cx="446485" cy="469900"/>
          </a:xfrm>
          <a:prstGeom prst="rect">
            <a:avLst/>
          </a:prstGeom>
        </p:spPr>
        <p:txBody>
          <a:bodyPr lIns="0" tIns="0" rIns="0" bIns="0" rtlCol="0" anchor="t">
            <a:spAutoFit/>
          </a:bodyPr>
          <a:lstStyle/>
          <a:p>
            <a:pPr algn="ctr">
              <a:lnSpc>
                <a:spcPts val="3500"/>
              </a:lnSpc>
            </a:pPr>
            <a:r>
              <a:rPr lang="en-US" sz="3500" b="1">
                <a:solidFill>
                  <a:srgbClr val="272525"/>
                </a:solidFill>
                <a:latin typeface="Inter Bold"/>
                <a:ea typeface="Inter Bold"/>
                <a:cs typeface="Inter Bold"/>
                <a:sym typeface="Inter Bold"/>
              </a:rPr>
              <a:t>3</a:t>
            </a:r>
          </a:p>
        </p:txBody>
      </p:sp>
      <p:sp>
        <p:nvSpPr>
          <p:cNvPr id="24" name="TextBox 24"/>
          <p:cNvSpPr txBox="1"/>
          <p:nvPr/>
        </p:nvSpPr>
        <p:spPr>
          <a:xfrm>
            <a:off x="1913632" y="6537723"/>
            <a:ext cx="3721299" cy="463550"/>
          </a:xfrm>
          <a:prstGeom prst="rect">
            <a:avLst/>
          </a:prstGeom>
        </p:spPr>
        <p:txBody>
          <a:bodyPr lIns="0" tIns="0" rIns="0" bIns="0" rtlCol="0" anchor="t">
            <a:spAutoFit/>
          </a:bodyPr>
          <a:lstStyle/>
          <a:p>
            <a:pPr algn="l">
              <a:lnSpc>
                <a:spcPts val="3625"/>
              </a:lnSpc>
            </a:pPr>
            <a:r>
              <a:rPr lang="en-US" sz="2874" b="1">
                <a:solidFill>
                  <a:srgbClr val="272525"/>
                </a:solidFill>
                <a:latin typeface="Inter Bold"/>
                <a:ea typeface="Inter Bold"/>
                <a:cs typeface="Inter Bold"/>
                <a:sym typeface="Inter Bold"/>
              </a:rPr>
              <a:t>So Sánh Trạng Thái</a:t>
            </a:r>
          </a:p>
        </p:txBody>
      </p:sp>
      <p:sp>
        <p:nvSpPr>
          <p:cNvPr id="25" name="TextBox 25"/>
          <p:cNvSpPr txBox="1"/>
          <p:nvPr/>
        </p:nvSpPr>
        <p:spPr>
          <a:xfrm>
            <a:off x="1913633" y="7087195"/>
            <a:ext cx="7053114" cy="1521959"/>
          </a:xfrm>
          <a:prstGeom prst="rect">
            <a:avLst/>
          </a:prstGeom>
        </p:spPr>
        <p:txBody>
          <a:bodyPr lIns="0" tIns="0" rIns="0" bIns="0" rtlCol="0" anchor="t">
            <a:spAutoFit/>
          </a:bodyPr>
          <a:lstStyle/>
          <a:p>
            <a:pPr algn="l">
              <a:lnSpc>
                <a:spcPts val="4051"/>
              </a:lnSpc>
            </a:pPr>
            <a:r>
              <a:rPr lang="en-US" sz="2487">
                <a:solidFill>
                  <a:srgbClr val="272525"/>
                </a:solidFill>
                <a:latin typeface="Inter"/>
                <a:ea typeface="Inter"/>
                <a:cs typeface="Inter"/>
                <a:sym typeface="Inter"/>
              </a:rPr>
              <a:t>So sánh trạng thái hiện tại với khung hình trước. Nếu prev_side ≠ 0, current_side ≠ 0 và prev_side ≠ current_side, bộ đếm tăng 1.</a:t>
            </a:r>
          </a:p>
        </p:txBody>
      </p:sp>
      <p:grpSp>
        <p:nvGrpSpPr>
          <p:cNvPr id="26" name="Group 26"/>
          <p:cNvGrpSpPr/>
          <p:nvPr/>
        </p:nvGrpSpPr>
        <p:grpSpPr>
          <a:xfrm>
            <a:off x="9316342" y="6464201"/>
            <a:ext cx="647403" cy="647403"/>
            <a:chOff x="0" y="0"/>
            <a:chExt cx="863203" cy="863203"/>
          </a:xfrm>
        </p:grpSpPr>
        <p:sp>
          <p:nvSpPr>
            <p:cNvPr id="27" name="Freeform 27"/>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CCEEFF"/>
            </a:solidFill>
          </p:spPr>
          <p:txBody>
            <a:bodyPr/>
            <a:lstStyle/>
            <a:p>
              <a:endParaRPr lang="en-GB"/>
            </a:p>
          </p:txBody>
        </p:sp>
        <p:sp>
          <p:nvSpPr>
            <p:cNvPr id="28" name="Freeform 28"/>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B2D4E5"/>
            </a:solidFill>
          </p:spPr>
          <p:txBody>
            <a:bodyPr/>
            <a:lstStyle/>
            <a:p>
              <a:endParaRPr lang="en-GB"/>
            </a:p>
          </p:txBody>
        </p:sp>
      </p:grpSp>
      <p:sp>
        <p:nvSpPr>
          <p:cNvPr id="29" name="TextBox 29"/>
          <p:cNvSpPr txBox="1"/>
          <p:nvPr/>
        </p:nvSpPr>
        <p:spPr>
          <a:xfrm>
            <a:off x="9416802" y="6565999"/>
            <a:ext cx="446485" cy="469900"/>
          </a:xfrm>
          <a:prstGeom prst="rect">
            <a:avLst/>
          </a:prstGeom>
        </p:spPr>
        <p:txBody>
          <a:bodyPr lIns="0" tIns="0" rIns="0" bIns="0" rtlCol="0" anchor="t">
            <a:spAutoFit/>
          </a:bodyPr>
          <a:lstStyle/>
          <a:p>
            <a:pPr algn="ctr">
              <a:lnSpc>
                <a:spcPts val="3500"/>
              </a:lnSpc>
            </a:pPr>
            <a:r>
              <a:rPr lang="en-US" sz="3500" b="1">
                <a:solidFill>
                  <a:srgbClr val="272525"/>
                </a:solidFill>
                <a:latin typeface="Inter Bold"/>
                <a:ea typeface="Inter Bold"/>
                <a:cs typeface="Inter Bold"/>
                <a:sym typeface="Inter Bold"/>
              </a:rPr>
              <a:t>4</a:t>
            </a:r>
          </a:p>
        </p:txBody>
      </p:sp>
      <p:sp>
        <p:nvSpPr>
          <p:cNvPr id="30" name="TextBox 30"/>
          <p:cNvSpPr txBox="1"/>
          <p:nvPr/>
        </p:nvSpPr>
        <p:spPr>
          <a:xfrm>
            <a:off x="10242500" y="6537723"/>
            <a:ext cx="3721299" cy="463550"/>
          </a:xfrm>
          <a:prstGeom prst="rect">
            <a:avLst/>
          </a:prstGeom>
        </p:spPr>
        <p:txBody>
          <a:bodyPr lIns="0" tIns="0" rIns="0" bIns="0" rtlCol="0" anchor="t">
            <a:spAutoFit/>
          </a:bodyPr>
          <a:lstStyle/>
          <a:p>
            <a:pPr algn="l">
              <a:lnSpc>
                <a:spcPts val="3625"/>
              </a:lnSpc>
            </a:pPr>
            <a:r>
              <a:rPr lang="en-US" sz="2874" b="1">
                <a:solidFill>
                  <a:srgbClr val="272525"/>
                </a:solidFill>
                <a:latin typeface="Inter Bold"/>
                <a:ea typeface="Inter Bold"/>
                <a:cs typeface="Inter Bold"/>
                <a:sym typeface="Inter Bold"/>
              </a:rPr>
              <a:t>Cập Nhật Dữ Liệu</a:t>
            </a:r>
          </a:p>
        </p:txBody>
      </p:sp>
      <p:sp>
        <p:nvSpPr>
          <p:cNvPr id="31" name="TextBox 31"/>
          <p:cNvSpPr txBox="1"/>
          <p:nvPr/>
        </p:nvSpPr>
        <p:spPr>
          <a:xfrm>
            <a:off x="10242500" y="7087195"/>
            <a:ext cx="7053262" cy="2036309"/>
          </a:xfrm>
          <a:prstGeom prst="rect">
            <a:avLst/>
          </a:prstGeom>
        </p:spPr>
        <p:txBody>
          <a:bodyPr lIns="0" tIns="0" rIns="0" bIns="0" rtlCol="0" anchor="t">
            <a:spAutoFit/>
          </a:bodyPr>
          <a:lstStyle/>
          <a:p>
            <a:pPr algn="l">
              <a:lnSpc>
                <a:spcPts val="4051"/>
              </a:lnSpc>
            </a:pPr>
            <a:r>
              <a:rPr lang="en-US" sz="2487">
                <a:solidFill>
                  <a:srgbClr val="272525"/>
                </a:solidFill>
                <a:latin typeface="Inter"/>
                <a:ea typeface="Inter"/>
                <a:cs typeface="Inter"/>
                <a:sym typeface="Inter"/>
              </a:rPr>
              <a:t>Lưu trạng thái hiện tại vào object_states[track_id] để sử dụng cho khung hình tiếp theo, duy trì lịch sử vị trí của mỗi người.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A674D29C-5F19-4525-08EC-E916D573588B}"/>
              </a:ext>
            </a:extLst>
          </p:cNvPr>
          <p:cNvGrpSpPr>
            <a:grpSpLocks noChangeAspect="1"/>
          </p:cNvGrpSpPr>
          <p:nvPr/>
        </p:nvGrpSpPr>
        <p:grpSpPr>
          <a:xfrm>
            <a:off x="0" y="0"/>
            <a:ext cx="18288000" cy="10287000"/>
            <a:chOff x="0" y="0"/>
            <a:chExt cx="24384000" cy="13716000"/>
          </a:xfrm>
        </p:grpSpPr>
        <p:sp>
          <p:nvSpPr>
            <p:cNvPr id="5" name="Freeform 3" descr="preencoded.png">
              <a:extLst>
                <a:ext uri="{FF2B5EF4-FFF2-40B4-BE49-F238E27FC236}">
                  <a16:creationId xmlns:a16="http://schemas.microsoft.com/office/drawing/2014/main" id="{B4A891A3-5DD2-F75E-3374-82C23739EAC5}"/>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GB"/>
            </a:p>
          </p:txBody>
        </p:sp>
      </p:grpSp>
      <p:grpSp>
        <p:nvGrpSpPr>
          <p:cNvPr id="6" name="Group 4">
            <a:extLst>
              <a:ext uri="{FF2B5EF4-FFF2-40B4-BE49-F238E27FC236}">
                <a16:creationId xmlns:a16="http://schemas.microsoft.com/office/drawing/2014/main" id="{87EB98E8-C178-C692-72CA-CC19D2E0B627}"/>
              </a:ext>
            </a:extLst>
          </p:cNvPr>
          <p:cNvGrpSpPr/>
          <p:nvPr/>
        </p:nvGrpSpPr>
        <p:grpSpPr>
          <a:xfrm>
            <a:off x="0" y="0"/>
            <a:ext cx="18288000" cy="10287000"/>
            <a:chOff x="0" y="0"/>
            <a:chExt cx="24384000" cy="13716000"/>
          </a:xfrm>
        </p:grpSpPr>
        <p:sp>
          <p:nvSpPr>
            <p:cNvPr id="7" name="Freeform 5">
              <a:extLst>
                <a:ext uri="{FF2B5EF4-FFF2-40B4-BE49-F238E27FC236}">
                  <a16:creationId xmlns:a16="http://schemas.microsoft.com/office/drawing/2014/main" id="{F563D62E-92AC-8E8D-7036-4EF71C803E78}"/>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txBody>
            <a:bodyPr/>
            <a:lstStyle/>
            <a:p>
              <a:endParaRPr lang="en-GB" dirty="0"/>
            </a:p>
          </p:txBody>
        </p:sp>
      </p:grpSp>
      <p:pic>
        <p:nvPicPr>
          <p:cNvPr id="35" name="Hình ảnh 34">
            <a:extLst>
              <a:ext uri="{FF2B5EF4-FFF2-40B4-BE49-F238E27FC236}">
                <a16:creationId xmlns:a16="http://schemas.microsoft.com/office/drawing/2014/main" id="{753EC3BE-1CCF-6EC7-5C38-F9E19FF46285}"/>
              </a:ext>
            </a:extLst>
          </p:cNvPr>
          <p:cNvPicPr>
            <a:picLocks noChangeAspect="1"/>
          </p:cNvPicPr>
          <p:nvPr/>
        </p:nvPicPr>
        <p:blipFill>
          <a:blip r:embed="rId3"/>
          <a:stretch>
            <a:fillRect/>
          </a:stretch>
        </p:blipFill>
        <p:spPr>
          <a:xfrm>
            <a:off x="228600" y="45706"/>
            <a:ext cx="8991600" cy="5282354"/>
          </a:xfrm>
          <a:prstGeom prst="rect">
            <a:avLst/>
          </a:prstGeom>
        </p:spPr>
      </p:pic>
      <p:pic>
        <p:nvPicPr>
          <p:cNvPr id="36" name="Hình ảnh 35">
            <a:extLst>
              <a:ext uri="{FF2B5EF4-FFF2-40B4-BE49-F238E27FC236}">
                <a16:creationId xmlns:a16="http://schemas.microsoft.com/office/drawing/2014/main" id="{AF1D21D6-6D6A-BF7D-74D4-FD2672C0E85D}"/>
              </a:ext>
            </a:extLst>
          </p:cNvPr>
          <p:cNvPicPr>
            <a:picLocks noChangeAspect="1"/>
          </p:cNvPicPr>
          <p:nvPr/>
        </p:nvPicPr>
        <p:blipFill>
          <a:blip r:embed="rId4"/>
          <a:stretch>
            <a:fillRect/>
          </a:stretch>
        </p:blipFill>
        <p:spPr>
          <a:xfrm>
            <a:off x="9220199" y="114531"/>
            <a:ext cx="8897397" cy="5227048"/>
          </a:xfrm>
          <a:prstGeom prst="rect">
            <a:avLst/>
          </a:prstGeom>
        </p:spPr>
      </p:pic>
      <p:pic>
        <p:nvPicPr>
          <p:cNvPr id="37" name="Hình ảnh 36">
            <a:extLst>
              <a:ext uri="{FF2B5EF4-FFF2-40B4-BE49-F238E27FC236}">
                <a16:creationId xmlns:a16="http://schemas.microsoft.com/office/drawing/2014/main" id="{FFD2D626-8ADA-7586-EFF7-1918B63A29FF}"/>
              </a:ext>
            </a:extLst>
          </p:cNvPr>
          <p:cNvPicPr>
            <a:picLocks noChangeAspect="1"/>
          </p:cNvPicPr>
          <p:nvPr/>
        </p:nvPicPr>
        <p:blipFill>
          <a:blip r:embed="rId5"/>
          <a:srcRect b="7291"/>
          <a:stretch>
            <a:fillRect/>
          </a:stretch>
        </p:blipFill>
        <p:spPr>
          <a:xfrm>
            <a:off x="279422" y="5328059"/>
            <a:ext cx="8897397" cy="4844641"/>
          </a:xfrm>
          <a:prstGeom prst="rect">
            <a:avLst/>
          </a:prstGeom>
        </p:spPr>
      </p:pic>
      <p:pic>
        <p:nvPicPr>
          <p:cNvPr id="39" name="Hình ảnh 38">
            <a:extLst>
              <a:ext uri="{FF2B5EF4-FFF2-40B4-BE49-F238E27FC236}">
                <a16:creationId xmlns:a16="http://schemas.microsoft.com/office/drawing/2014/main" id="{306931DC-F289-B12C-BA94-A16365C0B863}"/>
              </a:ext>
            </a:extLst>
          </p:cNvPr>
          <p:cNvPicPr>
            <a:picLocks noChangeAspect="1"/>
          </p:cNvPicPr>
          <p:nvPr/>
        </p:nvPicPr>
        <p:blipFill>
          <a:blip r:embed="rId6"/>
          <a:stretch>
            <a:fillRect/>
          </a:stretch>
        </p:blipFill>
        <p:spPr>
          <a:xfrm>
            <a:off x="9123540" y="5396885"/>
            <a:ext cx="8918558" cy="4775815"/>
          </a:xfrm>
          <a:prstGeom prst="rect">
            <a:avLst/>
          </a:prstGeom>
        </p:spPr>
      </p:pic>
    </p:spTree>
    <p:extLst>
      <p:ext uri="{BB962C8B-B14F-4D97-AF65-F5344CB8AC3E}">
        <p14:creationId xmlns:p14="http://schemas.microsoft.com/office/powerpoint/2010/main" val="2426633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GB"/>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txBody>
            <a:bodyPr/>
            <a:lstStyle/>
            <a:p>
              <a:endParaRPr lang="en-GB"/>
            </a:p>
          </p:txBody>
        </p:sp>
      </p:grpSp>
      <p:sp>
        <p:nvSpPr>
          <p:cNvPr id="6" name="TextBox 6"/>
          <p:cNvSpPr txBox="1"/>
          <p:nvPr/>
        </p:nvSpPr>
        <p:spPr>
          <a:xfrm>
            <a:off x="1028700" y="1630264"/>
            <a:ext cx="12373644" cy="738187"/>
          </a:xfrm>
          <a:prstGeom prst="rect">
            <a:avLst/>
          </a:prstGeom>
        </p:spPr>
        <p:txBody>
          <a:bodyPr lIns="0" tIns="0" rIns="0" bIns="0" rtlCol="0" anchor="t">
            <a:spAutoFit/>
          </a:bodyPr>
          <a:lstStyle/>
          <a:p>
            <a:pPr algn="l">
              <a:lnSpc>
                <a:spcPts val="5812"/>
              </a:lnSpc>
            </a:pPr>
            <a:r>
              <a:rPr lang="en-US" sz="4687" b="1">
                <a:solidFill>
                  <a:srgbClr val="000000"/>
                </a:solidFill>
                <a:latin typeface="Inter Bold"/>
                <a:ea typeface="Inter Bold"/>
                <a:cs typeface="Inter Bold"/>
                <a:sym typeface="Inter Bold"/>
              </a:rPr>
              <a:t>VII. ƯU ĐIỂM VÀ HẠN CHẾ CỦA HỆ THỐNG</a:t>
            </a:r>
          </a:p>
        </p:txBody>
      </p:sp>
      <p:sp>
        <p:nvSpPr>
          <p:cNvPr id="7" name="TextBox 7"/>
          <p:cNvSpPr txBox="1"/>
          <p:nvPr/>
        </p:nvSpPr>
        <p:spPr>
          <a:xfrm>
            <a:off x="992238" y="3454301"/>
            <a:ext cx="3721299" cy="408526"/>
          </a:xfrm>
          <a:prstGeom prst="rect">
            <a:avLst/>
          </a:prstGeom>
        </p:spPr>
        <p:txBody>
          <a:bodyPr lIns="0" tIns="0" rIns="0" bIns="0" rtlCol="0" anchor="t">
            <a:spAutoFit/>
          </a:bodyPr>
          <a:lstStyle/>
          <a:p>
            <a:pPr algn="l">
              <a:lnSpc>
                <a:spcPts val="3278"/>
              </a:lnSpc>
            </a:pPr>
            <a:r>
              <a:rPr lang="en-US" sz="2599" b="1">
                <a:solidFill>
                  <a:srgbClr val="000000"/>
                </a:solidFill>
                <a:latin typeface="Inter Bold"/>
                <a:ea typeface="Inter Bold"/>
                <a:cs typeface="Inter Bold"/>
                <a:sym typeface="Inter Bold"/>
              </a:rPr>
              <a:t>✓ Ưu Điểm</a:t>
            </a:r>
          </a:p>
        </p:txBody>
      </p:sp>
      <p:sp>
        <p:nvSpPr>
          <p:cNvPr id="8" name="TextBox 8"/>
          <p:cNvSpPr txBox="1"/>
          <p:nvPr/>
        </p:nvSpPr>
        <p:spPr>
          <a:xfrm>
            <a:off x="992238" y="4107656"/>
            <a:ext cx="7805886" cy="1039586"/>
          </a:xfrm>
          <a:prstGeom prst="rect">
            <a:avLst/>
          </a:prstGeom>
        </p:spPr>
        <p:txBody>
          <a:bodyPr lIns="0" tIns="0" rIns="0" bIns="0" rtlCol="0" anchor="t">
            <a:spAutoFit/>
          </a:bodyPr>
          <a:lstStyle/>
          <a:p>
            <a:pPr marL="392112" lvl="1" indent="-196056" algn="l">
              <a:lnSpc>
                <a:spcPts val="4234"/>
              </a:lnSpc>
              <a:buFont typeface="Arial"/>
              <a:buChar char="•"/>
            </a:pPr>
            <a:r>
              <a:rPr lang="en-US" sz="2599" b="1">
                <a:solidFill>
                  <a:srgbClr val="272525"/>
                </a:solidFill>
                <a:latin typeface="Inter Bold"/>
                <a:ea typeface="Inter Bold"/>
                <a:cs typeface="Inter Bold"/>
                <a:sym typeface="Inter Bold"/>
              </a:rPr>
              <a:t>Tốc độ cao:</a:t>
            </a:r>
            <a:r>
              <a:rPr lang="en-US" sz="2599">
                <a:solidFill>
                  <a:srgbClr val="272525"/>
                </a:solidFill>
                <a:latin typeface="Inter"/>
                <a:ea typeface="Inter"/>
                <a:cs typeface="Inter"/>
                <a:sym typeface="Inter"/>
              </a:rPr>
              <a:t> YOLOv8n cho phép chạy gần thời gian thực, xử lý nhiều khung hình mỗi giây.</a:t>
            </a:r>
          </a:p>
        </p:txBody>
      </p:sp>
      <p:sp>
        <p:nvSpPr>
          <p:cNvPr id="9" name="TextBox 9"/>
          <p:cNvSpPr txBox="1"/>
          <p:nvPr/>
        </p:nvSpPr>
        <p:spPr>
          <a:xfrm>
            <a:off x="992238" y="5114032"/>
            <a:ext cx="7805886" cy="1039586"/>
          </a:xfrm>
          <a:prstGeom prst="rect">
            <a:avLst/>
          </a:prstGeom>
        </p:spPr>
        <p:txBody>
          <a:bodyPr lIns="0" tIns="0" rIns="0" bIns="0" rtlCol="0" anchor="t">
            <a:spAutoFit/>
          </a:bodyPr>
          <a:lstStyle/>
          <a:p>
            <a:pPr marL="392112" lvl="1" indent="-196056" algn="l">
              <a:lnSpc>
                <a:spcPts val="4234"/>
              </a:lnSpc>
              <a:buFont typeface="Arial"/>
              <a:buChar char="•"/>
            </a:pPr>
            <a:r>
              <a:rPr lang="en-US" sz="2599" b="1">
                <a:solidFill>
                  <a:srgbClr val="272525"/>
                </a:solidFill>
                <a:latin typeface="Inter Bold"/>
                <a:ea typeface="Inter Bold"/>
                <a:cs typeface="Inter Bold"/>
                <a:sym typeface="Inter Bold"/>
              </a:rPr>
              <a:t>Đơn giản:</a:t>
            </a:r>
            <a:r>
              <a:rPr lang="en-US" sz="2599">
                <a:solidFill>
                  <a:srgbClr val="272525"/>
                </a:solidFill>
                <a:latin typeface="Inter"/>
                <a:ea typeface="Inter"/>
                <a:cs typeface="Inter"/>
                <a:sym typeface="Inter"/>
              </a:rPr>
              <a:t> Thuật toán line-crossing dễ hiểu, dễ triển khai và bảo trì.</a:t>
            </a:r>
          </a:p>
        </p:txBody>
      </p:sp>
      <p:sp>
        <p:nvSpPr>
          <p:cNvPr id="10" name="TextBox 10"/>
          <p:cNvSpPr txBox="1"/>
          <p:nvPr/>
        </p:nvSpPr>
        <p:spPr>
          <a:xfrm>
            <a:off x="992238" y="6120407"/>
            <a:ext cx="7805886" cy="1039586"/>
          </a:xfrm>
          <a:prstGeom prst="rect">
            <a:avLst/>
          </a:prstGeom>
        </p:spPr>
        <p:txBody>
          <a:bodyPr lIns="0" tIns="0" rIns="0" bIns="0" rtlCol="0" anchor="t">
            <a:spAutoFit/>
          </a:bodyPr>
          <a:lstStyle/>
          <a:p>
            <a:pPr marL="392112" lvl="1" indent="-196056" algn="l">
              <a:lnSpc>
                <a:spcPts val="4234"/>
              </a:lnSpc>
              <a:buFont typeface="Arial"/>
              <a:buChar char="•"/>
            </a:pPr>
            <a:r>
              <a:rPr lang="en-US" sz="2599" b="1">
                <a:solidFill>
                  <a:srgbClr val="272525"/>
                </a:solidFill>
                <a:latin typeface="Inter Bold"/>
                <a:ea typeface="Inter Bold"/>
                <a:cs typeface="Inter Bold"/>
                <a:sym typeface="Inter Bold"/>
              </a:rPr>
              <a:t>Linh hoạt:</a:t>
            </a:r>
            <a:r>
              <a:rPr lang="en-US" sz="2599">
                <a:solidFill>
                  <a:srgbClr val="272525"/>
                </a:solidFill>
                <a:latin typeface="Inter"/>
                <a:ea typeface="Inter"/>
                <a:cs typeface="Inter"/>
                <a:sym typeface="Inter"/>
              </a:rPr>
              <a:t> Người dùng tự định nghĩa vị trí và hướng của ranh giới.</a:t>
            </a:r>
          </a:p>
        </p:txBody>
      </p:sp>
      <p:sp>
        <p:nvSpPr>
          <p:cNvPr id="11" name="TextBox 11"/>
          <p:cNvSpPr txBox="1"/>
          <p:nvPr/>
        </p:nvSpPr>
        <p:spPr>
          <a:xfrm>
            <a:off x="992238" y="7126784"/>
            <a:ext cx="7805886" cy="1039586"/>
          </a:xfrm>
          <a:prstGeom prst="rect">
            <a:avLst/>
          </a:prstGeom>
        </p:spPr>
        <p:txBody>
          <a:bodyPr lIns="0" tIns="0" rIns="0" bIns="0" rtlCol="0" anchor="t">
            <a:spAutoFit/>
          </a:bodyPr>
          <a:lstStyle/>
          <a:p>
            <a:pPr marL="392112" lvl="1" indent="-196056" algn="l">
              <a:lnSpc>
                <a:spcPts val="4234"/>
              </a:lnSpc>
              <a:buFont typeface="Arial"/>
              <a:buChar char="•"/>
            </a:pPr>
            <a:r>
              <a:rPr lang="en-US" sz="2599" b="1">
                <a:solidFill>
                  <a:srgbClr val="272525"/>
                </a:solidFill>
                <a:latin typeface="Inter Bold"/>
                <a:ea typeface="Inter Bold"/>
                <a:cs typeface="Inter Bold"/>
                <a:sym typeface="Inter Bold"/>
              </a:rPr>
              <a:t>Tự động:</a:t>
            </a:r>
            <a:r>
              <a:rPr lang="en-US" sz="2599">
                <a:solidFill>
                  <a:srgbClr val="272525"/>
                </a:solidFill>
                <a:latin typeface="Inter"/>
                <a:ea typeface="Inter"/>
                <a:cs typeface="Inter"/>
                <a:sym typeface="Inter"/>
              </a:rPr>
              <a:t> Hoàn toàn tự động sau bước cài đặt ban đầu.</a:t>
            </a:r>
          </a:p>
        </p:txBody>
      </p:sp>
      <p:sp>
        <p:nvSpPr>
          <p:cNvPr id="12" name="TextBox 12"/>
          <p:cNvSpPr txBox="1"/>
          <p:nvPr/>
        </p:nvSpPr>
        <p:spPr>
          <a:xfrm>
            <a:off x="9499401" y="3454301"/>
            <a:ext cx="3721299" cy="408526"/>
          </a:xfrm>
          <a:prstGeom prst="rect">
            <a:avLst/>
          </a:prstGeom>
        </p:spPr>
        <p:txBody>
          <a:bodyPr lIns="0" tIns="0" rIns="0" bIns="0" rtlCol="0" anchor="t">
            <a:spAutoFit/>
          </a:bodyPr>
          <a:lstStyle/>
          <a:p>
            <a:pPr algn="l">
              <a:lnSpc>
                <a:spcPts val="3278"/>
              </a:lnSpc>
            </a:pPr>
            <a:r>
              <a:rPr lang="en-US" sz="2599" b="1">
                <a:solidFill>
                  <a:srgbClr val="000000"/>
                </a:solidFill>
                <a:latin typeface="Inter Bold"/>
                <a:ea typeface="Inter Bold"/>
                <a:cs typeface="Inter Bold"/>
                <a:sym typeface="Inter Bold"/>
              </a:rPr>
              <a:t>⚠ Hạn Chế</a:t>
            </a:r>
          </a:p>
        </p:txBody>
      </p:sp>
      <p:sp>
        <p:nvSpPr>
          <p:cNvPr id="13" name="TextBox 13"/>
          <p:cNvSpPr txBox="1"/>
          <p:nvPr/>
        </p:nvSpPr>
        <p:spPr>
          <a:xfrm>
            <a:off x="9499401" y="4126706"/>
            <a:ext cx="7805886" cy="1039586"/>
          </a:xfrm>
          <a:prstGeom prst="rect">
            <a:avLst/>
          </a:prstGeom>
        </p:spPr>
        <p:txBody>
          <a:bodyPr lIns="0" tIns="0" rIns="0" bIns="0" rtlCol="0" anchor="t">
            <a:spAutoFit/>
          </a:bodyPr>
          <a:lstStyle/>
          <a:p>
            <a:pPr marL="392112" lvl="1" indent="-196056" algn="l">
              <a:lnSpc>
                <a:spcPts val="4234"/>
              </a:lnSpc>
              <a:buFont typeface="Arial"/>
              <a:buChar char="•"/>
            </a:pPr>
            <a:r>
              <a:rPr lang="en-US" sz="2599" b="1">
                <a:solidFill>
                  <a:srgbClr val="272525"/>
                </a:solidFill>
                <a:latin typeface="Inter Bold"/>
                <a:ea typeface="Inter Bold"/>
                <a:cs typeface="Inter Bold"/>
                <a:sym typeface="Inter Bold"/>
              </a:rPr>
              <a:t>Đếm hai chiều:</a:t>
            </a:r>
            <a:r>
              <a:rPr lang="en-US" sz="2599">
                <a:solidFill>
                  <a:srgbClr val="272525"/>
                </a:solidFill>
                <a:latin typeface="Inter"/>
                <a:ea typeface="Inter"/>
                <a:cs typeface="Inter"/>
                <a:sym typeface="Inter"/>
              </a:rPr>
              <a:t> Đếm bất kỳ ai vượt qua bất kể chiều, người đi lại nhiều lần bị đếm nhiều lần.</a:t>
            </a:r>
          </a:p>
        </p:txBody>
      </p:sp>
      <p:sp>
        <p:nvSpPr>
          <p:cNvPr id="14" name="TextBox 14"/>
          <p:cNvSpPr txBox="1"/>
          <p:nvPr/>
        </p:nvSpPr>
        <p:spPr>
          <a:xfrm>
            <a:off x="9499401" y="5133082"/>
            <a:ext cx="7805886" cy="1039586"/>
          </a:xfrm>
          <a:prstGeom prst="rect">
            <a:avLst/>
          </a:prstGeom>
        </p:spPr>
        <p:txBody>
          <a:bodyPr lIns="0" tIns="0" rIns="0" bIns="0" rtlCol="0" anchor="t">
            <a:spAutoFit/>
          </a:bodyPr>
          <a:lstStyle/>
          <a:p>
            <a:pPr marL="392112" lvl="1" indent="-196056" algn="l">
              <a:lnSpc>
                <a:spcPts val="4234"/>
              </a:lnSpc>
              <a:buFont typeface="Arial"/>
              <a:buChar char="•"/>
            </a:pPr>
            <a:r>
              <a:rPr lang="en-US" sz="2599" b="1">
                <a:solidFill>
                  <a:srgbClr val="272525"/>
                </a:solidFill>
                <a:latin typeface="Inter Bold"/>
                <a:ea typeface="Inter Bold"/>
                <a:cs typeface="Inter Bold"/>
                <a:sym typeface="Inter Bold"/>
              </a:rPr>
              <a:t>Occlusion:</a:t>
            </a:r>
            <a:r>
              <a:rPr lang="en-US" sz="2599">
                <a:solidFill>
                  <a:srgbClr val="272525"/>
                </a:solidFill>
                <a:latin typeface="Inter"/>
                <a:ea typeface="Inter"/>
                <a:cs typeface="Inter"/>
                <a:sym typeface="Inter"/>
              </a:rPr>
              <a:t> Khi người che khuất nhau, YOLOv8 có thể mất track ID, dẫn đến đếm sai.</a:t>
            </a:r>
          </a:p>
        </p:txBody>
      </p:sp>
      <p:sp>
        <p:nvSpPr>
          <p:cNvPr id="15" name="TextBox 15"/>
          <p:cNvSpPr txBox="1"/>
          <p:nvPr/>
        </p:nvSpPr>
        <p:spPr>
          <a:xfrm>
            <a:off x="9499401" y="6139457"/>
            <a:ext cx="7805886" cy="1039586"/>
          </a:xfrm>
          <a:prstGeom prst="rect">
            <a:avLst/>
          </a:prstGeom>
        </p:spPr>
        <p:txBody>
          <a:bodyPr lIns="0" tIns="0" rIns="0" bIns="0" rtlCol="0" anchor="t">
            <a:spAutoFit/>
          </a:bodyPr>
          <a:lstStyle/>
          <a:p>
            <a:pPr marL="392112" lvl="1" indent="-196056" algn="l">
              <a:lnSpc>
                <a:spcPts val="4234"/>
              </a:lnSpc>
              <a:buFont typeface="Arial"/>
              <a:buChar char="•"/>
            </a:pPr>
            <a:r>
              <a:rPr lang="en-US" sz="2599" b="1">
                <a:solidFill>
                  <a:srgbClr val="272525"/>
                </a:solidFill>
                <a:latin typeface="Inter Bold"/>
                <a:ea typeface="Inter Bold"/>
                <a:cs typeface="Inter Bold"/>
                <a:sym typeface="Inter Bold"/>
              </a:rPr>
              <a:t>Điểm tâm:</a:t>
            </a:r>
            <a:r>
              <a:rPr lang="en-US" sz="2599">
                <a:solidFill>
                  <a:srgbClr val="272525"/>
                </a:solidFill>
                <a:latin typeface="Inter"/>
                <a:ea typeface="Inter"/>
                <a:cs typeface="Inter"/>
                <a:sym typeface="Inter"/>
              </a:rPr>
              <a:t> Nếu chỉ thò nửa người qua, tâm chưa vượt qua ranh giới nên không đếm.</a:t>
            </a:r>
          </a:p>
        </p:txBody>
      </p:sp>
      <p:sp>
        <p:nvSpPr>
          <p:cNvPr id="16" name="TextBox 16"/>
          <p:cNvSpPr txBox="1"/>
          <p:nvPr/>
        </p:nvSpPr>
        <p:spPr>
          <a:xfrm>
            <a:off x="9499401" y="7145834"/>
            <a:ext cx="7805886" cy="1039586"/>
          </a:xfrm>
          <a:prstGeom prst="rect">
            <a:avLst/>
          </a:prstGeom>
        </p:spPr>
        <p:txBody>
          <a:bodyPr lIns="0" tIns="0" rIns="0" bIns="0" rtlCol="0" anchor="t">
            <a:spAutoFit/>
          </a:bodyPr>
          <a:lstStyle/>
          <a:p>
            <a:pPr marL="392112" lvl="1" indent="-196056" algn="l">
              <a:lnSpc>
                <a:spcPts val="4234"/>
              </a:lnSpc>
              <a:buFont typeface="Arial"/>
              <a:buChar char="•"/>
            </a:pPr>
            <a:r>
              <a:rPr lang="en-US" sz="2599" b="1">
                <a:solidFill>
                  <a:srgbClr val="272525"/>
                </a:solidFill>
                <a:latin typeface="Inter Bold"/>
                <a:ea typeface="Inter Bold"/>
                <a:cs typeface="Inter Bold"/>
                <a:sym typeface="Inter Bold"/>
              </a:rPr>
              <a:t>Đối tượng trên vạch:</a:t>
            </a:r>
            <a:r>
              <a:rPr lang="en-US" sz="2599">
                <a:solidFill>
                  <a:srgbClr val="272525"/>
                </a:solidFill>
                <a:latin typeface="Inter"/>
                <a:ea typeface="Inter"/>
                <a:cs typeface="Inter"/>
                <a:sym typeface="Inter"/>
              </a:rPr>
              <a:t> Người đứng yên trên ranh giới sẽ có trạng thái 0, bị bỏ qua.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GB"/>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txBody>
            <a:bodyPr/>
            <a:lstStyle/>
            <a:p>
              <a:endParaRPr lang="en-GB"/>
            </a:p>
          </p:txBody>
        </p:sp>
      </p:grpSp>
      <p:sp>
        <p:nvSpPr>
          <p:cNvPr id="6" name="TextBox 6"/>
          <p:cNvSpPr txBox="1"/>
          <p:nvPr/>
        </p:nvSpPr>
        <p:spPr>
          <a:xfrm>
            <a:off x="839689" y="802928"/>
            <a:ext cx="9755353" cy="620713"/>
          </a:xfrm>
          <a:prstGeom prst="rect">
            <a:avLst/>
          </a:prstGeom>
        </p:spPr>
        <p:txBody>
          <a:bodyPr lIns="0" tIns="0" rIns="0" bIns="0" rtlCol="0" anchor="t">
            <a:spAutoFit/>
          </a:bodyPr>
          <a:lstStyle/>
          <a:p>
            <a:pPr algn="l">
              <a:lnSpc>
                <a:spcPts val="4937"/>
              </a:lnSpc>
            </a:pPr>
            <a:r>
              <a:rPr lang="en-US" sz="3937" b="1">
                <a:solidFill>
                  <a:srgbClr val="000000"/>
                </a:solidFill>
                <a:latin typeface="Inter Bold"/>
                <a:ea typeface="Inter Bold"/>
                <a:cs typeface="Inter Bold"/>
                <a:sym typeface="Inter Bold"/>
              </a:rPr>
              <a:t>VIII. HƯỚNG PHÁT TRIỂN VÀ CẢI THIỆN</a:t>
            </a:r>
          </a:p>
        </p:txBody>
      </p:sp>
      <p:grpSp>
        <p:nvGrpSpPr>
          <p:cNvPr id="7" name="Group 7"/>
          <p:cNvGrpSpPr/>
          <p:nvPr/>
        </p:nvGrpSpPr>
        <p:grpSpPr>
          <a:xfrm>
            <a:off x="834926" y="1936402"/>
            <a:ext cx="969169" cy="1794570"/>
            <a:chOff x="0" y="0"/>
            <a:chExt cx="1292225" cy="2392760"/>
          </a:xfrm>
        </p:grpSpPr>
        <p:sp>
          <p:nvSpPr>
            <p:cNvPr id="8" name="Freeform 8"/>
            <p:cNvSpPr/>
            <p:nvPr/>
          </p:nvSpPr>
          <p:spPr>
            <a:xfrm>
              <a:off x="6350" y="6350"/>
              <a:ext cx="1279525" cy="2379980"/>
            </a:xfrm>
            <a:custGeom>
              <a:avLst/>
              <a:gdLst/>
              <a:ahLst/>
              <a:cxnLst/>
              <a:rect l="l" t="t" r="r" b="b"/>
              <a:pathLst>
                <a:path w="1279525" h="2379980">
                  <a:moveTo>
                    <a:pt x="0" y="642620"/>
                  </a:moveTo>
                  <a:cubicBezTo>
                    <a:pt x="0" y="287782"/>
                    <a:pt x="286385" y="0"/>
                    <a:pt x="639699" y="0"/>
                  </a:cubicBezTo>
                  <a:cubicBezTo>
                    <a:pt x="993013" y="0"/>
                    <a:pt x="1279398" y="287782"/>
                    <a:pt x="1279525" y="642620"/>
                  </a:cubicBezTo>
                  <a:lnTo>
                    <a:pt x="1279525" y="1737360"/>
                  </a:lnTo>
                  <a:cubicBezTo>
                    <a:pt x="1279525" y="2092325"/>
                    <a:pt x="993140" y="2379980"/>
                    <a:pt x="639699" y="2379980"/>
                  </a:cubicBezTo>
                  <a:cubicBezTo>
                    <a:pt x="286258" y="2379980"/>
                    <a:pt x="0" y="2092325"/>
                    <a:pt x="0" y="1737360"/>
                  </a:cubicBezTo>
                  <a:close/>
                </a:path>
              </a:pathLst>
            </a:custGeom>
            <a:solidFill>
              <a:srgbClr val="CCEEFF"/>
            </a:solidFill>
          </p:spPr>
          <p:txBody>
            <a:bodyPr/>
            <a:lstStyle/>
            <a:p>
              <a:endParaRPr lang="en-GB"/>
            </a:p>
          </p:txBody>
        </p:sp>
        <p:sp>
          <p:nvSpPr>
            <p:cNvPr id="9" name="Freeform 9"/>
            <p:cNvSpPr/>
            <p:nvPr/>
          </p:nvSpPr>
          <p:spPr>
            <a:xfrm>
              <a:off x="0" y="0"/>
              <a:ext cx="1292352" cy="2392807"/>
            </a:xfrm>
            <a:custGeom>
              <a:avLst/>
              <a:gdLst/>
              <a:ahLst/>
              <a:cxnLst/>
              <a:rect l="l" t="t" r="r" b="b"/>
              <a:pathLst>
                <a:path w="1292352" h="2392807">
                  <a:moveTo>
                    <a:pt x="0" y="648970"/>
                  </a:moveTo>
                  <a:cubicBezTo>
                    <a:pt x="0" y="290576"/>
                    <a:pt x="289306" y="0"/>
                    <a:pt x="646049" y="0"/>
                  </a:cubicBezTo>
                  <a:cubicBezTo>
                    <a:pt x="647954" y="0"/>
                    <a:pt x="649859" y="889"/>
                    <a:pt x="651002" y="2413"/>
                  </a:cubicBezTo>
                  <a:lnTo>
                    <a:pt x="646176" y="6350"/>
                  </a:lnTo>
                  <a:lnTo>
                    <a:pt x="646176" y="0"/>
                  </a:lnTo>
                  <a:lnTo>
                    <a:pt x="646176" y="6350"/>
                  </a:lnTo>
                  <a:lnTo>
                    <a:pt x="646176" y="0"/>
                  </a:lnTo>
                  <a:cubicBezTo>
                    <a:pt x="1003046" y="0"/>
                    <a:pt x="1292225" y="290576"/>
                    <a:pt x="1292352" y="648970"/>
                  </a:cubicBezTo>
                  <a:lnTo>
                    <a:pt x="1292352" y="1743710"/>
                  </a:lnTo>
                  <a:lnTo>
                    <a:pt x="1286002" y="1743710"/>
                  </a:lnTo>
                  <a:lnTo>
                    <a:pt x="1292352" y="1743710"/>
                  </a:lnTo>
                  <a:cubicBezTo>
                    <a:pt x="1292352" y="2102104"/>
                    <a:pt x="1003046" y="2392680"/>
                    <a:pt x="646176" y="2392680"/>
                  </a:cubicBezTo>
                  <a:lnTo>
                    <a:pt x="646176" y="2386330"/>
                  </a:lnTo>
                  <a:lnTo>
                    <a:pt x="646176" y="2392680"/>
                  </a:lnTo>
                  <a:cubicBezTo>
                    <a:pt x="289306" y="2392807"/>
                    <a:pt x="0" y="2102104"/>
                    <a:pt x="0" y="1743710"/>
                  </a:cubicBezTo>
                  <a:lnTo>
                    <a:pt x="0" y="648970"/>
                  </a:lnTo>
                  <a:lnTo>
                    <a:pt x="6350" y="648970"/>
                  </a:lnTo>
                  <a:lnTo>
                    <a:pt x="0" y="648970"/>
                  </a:lnTo>
                  <a:moveTo>
                    <a:pt x="12700" y="648970"/>
                  </a:moveTo>
                  <a:lnTo>
                    <a:pt x="12700" y="1743710"/>
                  </a:lnTo>
                  <a:lnTo>
                    <a:pt x="6350" y="1743710"/>
                  </a:lnTo>
                  <a:lnTo>
                    <a:pt x="12700" y="1743710"/>
                  </a:lnTo>
                  <a:cubicBezTo>
                    <a:pt x="12700" y="2095119"/>
                    <a:pt x="296291" y="2379980"/>
                    <a:pt x="646176" y="2379980"/>
                  </a:cubicBezTo>
                  <a:cubicBezTo>
                    <a:pt x="996061" y="2379980"/>
                    <a:pt x="1279652" y="2095119"/>
                    <a:pt x="1279652" y="1743710"/>
                  </a:cubicBezTo>
                  <a:lnTo>
                    <a:pt x="1279652" y="648970"/>
                  </a:lnTo>
                  <a:lnTo>
                    <a:pt x="1286002" y="648970"/>
                  </a:lnTo>
                  <a:lnTo>
                    <a:pt x="1279652" y="648970"/>
                  </a:lnTo>
                  <a:cubicBezTo>
                    <a:pt x="1279525" y="297561"/>
                    <a:pt x="995934" y="12700"/>
                    <a:pt x="646176" y="12700"/>
                  </a:cubicBezTo>
                  <a:cubicBezTo>
                    <a:pt x="644271" y="12700"/>
                    <a:pt x="642366" y="11811"/>
                    <a:pt x="641223" y="10287"/>
                  </a:cubicBezTo>
                  <a:lnTo>
                    <a:pt x="646049" y="6350"/>
                  </a:lnTo>
                  <a:lnTo>
                    <a:pt x="646049" y="12700"/>
                  </a:lnTo>
                  <a:cubicBezTo>
                    <a:pt x="296291" y="12700"/>
                    <a:pt x="12700" y="297561"/>
                    <a:pt x="12700" y="648970"/>
                  </a:cubicBezTo>
                  <a:close/>
                </a:path>
              </a:pathLst>
            </a:custGeom>
            <a:solidFill>
              <a:srgbClr val="B2D4E5"/>
            </a:solidFill>
          </p:spPr>
          <p:txBody>
            <a:bodyPr/>
            <a:lstStyle/>
            <a:p>
              <a:endParaRPr lang="en-GB"/>
            </a:p>
          </p:txBody>
        </p:sp>
      </p:grpSp>
      <p:sp>
        <p:nvSpPr>
          <p:cNvPr id="10" name="TextBox 10"/>
          <p:cNvSpPr txBox="1"/>
          <p:nvPr/>
        </p:nvSpPr>
        <p:spPr>
          <a:xfrm>
            <a:off x="1139577" y="2665959"/>
            <a:ext cx="359866" cy="470217"/>
          </a:xfrm>
          <a:prstGeom prst="rect">
            <a:avLst/>
          </a:prstGeom>
        </p:spPr>
        <p:txBody>
          <a:bodyPr lIns="0" tIns="0" rIns="0" bIns="0" rtlCol="0" anchor="t">
            <a:spAutoFit/>
          </a:bodyPr>
          <a:lstStyle/>
          <a:p>
            <a:pPr algn="l">
              <a:lnSpc>
                <a:spcPts val="3512"/>
              </a:lnSpc>
            </a:pPr>
            <a:r>
              <a:rPr lang="en-US" sz="3512" b="1">
                <a:solidFill>
                  <a:srgbClr val="272525"/>
                </a:solidFill>
                <a:latin typeface="Inter Bold"/>
                <a:ea typeface="Inter Bold"/>
                <a:cs typeface="Inter Bold"/>
                <a:sym typeface="Inter Bold"/>
              </a:rPr>
              <a:t>1</a:t>
            </a:r>
          </a:p>
        </p:txBody>
      </p:sp>
      <p:sp>
        <p:nvSpPr>
          <p:cNvPr id="11" name="TextBox 11"/>
          <p:cNvSpPr txBox="1"/>
          <p:nvPr/>
        </p:nvSpPr>
        <p:spPr>
          <a:xfrm>
            <a:off x="2039242" y="2162026"/>
            <a:ext cx="4609933" cy="491873"/>
          </a:xfrm>
          <a:prstGeom prst="rect">
            <a:avLst/>
          </a:prstGeom>
        </p:spPr>
        <p:txBody>
          <a:bodyPr lIns="0" tIns="0" rIns="0" bIns="0" rtlCol="0" anchor="t">
            <a:spAutoFit/>
          </a:bodyPr>
          <a:lstStyle/>
          <a:p>
            <a:pPr algn="l">
              <a:lnSpc>
                <a:spcPts val="3941"/>
              </a:lnSpc>
            </a:pPr>
            <a:r>
              <a:rPr lang="en-US" sz="3137" b="1">
                <a:solidFill>
                  <a:srgbClr val="272525"/>
                </a:solidFill>
                <a:latin typeface="Inter Bold"/>
                <a:ea typeface="Inter Bold"/>
                <a:cs typeface="Inter Bold"/>
                <a:sym typeface="Inter Bold"/>
              </a:rPr>
              <a:t>Đếm Theo Hướng</a:t>
            </a:r>
          </a:p>
        </p:txBody>
      </p:sp>
      <p:sp>
        <p:nvSpPr>
          <p:cNvPr id="12" name="TextBox 12"/>
          <p:cNvSpPr txBox="1"/>
          <p:nvPr/>
        </p:nvSpPr>
        <p:spPr>
          <a:xfrm>
            <a:off x="2039242" y="2613869"/>
            <a:ext cx="15409069" cy="1002666"/>
          </a:xfrm>
          <a:prstGeom prst="rect">
            <a:avLst/>
          </a:prstGeom>
        </p:spPr>
        <p:txBody>
          <a:bodyPr lIns="0" tIns="0" rIns="0" bIns="0" rtlCol="0" anchor="t">
            <a:spAutoFit/>
          </a:bodyPr>
          <a:lstStyle/>
          <a:p>
            <a:pPr algn="l">
              <a:lnSpc>
                <a:spcPts val="4119"/>
              </a:lnSpc>
            </a:pPr>
            <a:r>
              <a:rPr lang="en-US" sz="2574">
                <a:solidFill>
                  <a:srgbClr val="272525"/>
                </a:solidFill>
                <a:latin typeface="Inter"/>
                <a:ea typeface="Inter"/>
                <a:cs typeface="Inter"/>
                <a:sym typeface="Inter"/>
              </a:rPr>
              <a:t>Cập nhật logic để chỉ đếm khi trạng thái thay đổi theo một hướng cụ thể, ví dụ chỉ đếm prev_side = -1 → current_side = +1 để đếm người "đi vào".</a:t>
            </a:r>
          </a:p>
        </p:txBody>
      </p:sp>
      <p:grpSp>
        <p:nvGrpSpPr>
          <p:cNvPr id="13" name="Group 13"/>
          <p:cNvGrpSpPr/>
          <p:nvPr/>
        </p:nvGrpSpPr>
        <p:grpSpPr>
          <a:xfrm>
            <a:off x="834926" y="3961359"/>
            <a:ext cx="969169" cy="1794570"/>
            <a:chOff x="0" y="0"/>
            <a:chExt cx="1292225" cy="2392760"/>
          </a:xfrm>
        </p:grpSpPr>
        <p:sp>
          <p:nvSpPr>
            <p:cNvPr id="14" name="Freeform 14"/>
            <p:cNvSpPr/>
            <p:nvPr/>
          </p:nvSpPr>
          <p:spPr>
            <a:xfrm>
              <a:off x="6350" y="6350"/>
              <a:ext cx="1279525" cy="2379980"/>
            </a:xfrm>
            <a:custGeom>
              <a:avLst/>
              <a:gdLst/>
              <a:ahLst/>
              <a:cxnLst/>
              <a:rect l="l" t="t" r="r" b="b"/>
              <a:pathLst>
                <a:path w="1279525" h="2379980">
                  <a:moveTo>
                    <a:pt x="0" y="642620"/>
                  </a:moveTo>
                  <a:cubicBezTo>
                    <a:pt x="0" y="287782"/>
                    <a:pt x="286385" y="0"/>
                    <a:pt x="639699" y="0"/>
                  </a:cubicBezTo>
                  <a:cubicBezTo>
                    <a:pt x="993013" y="0"/>
                    <a:pt x="1279398" y="287782"/>
                    <a:pt x="1279525" y="642620"/>
                  </a:cubicBezTo>
                  <a:lnTo>
                    <a:pt x="1279525" y="1737360"/>
                  </a:lnTo>
                  <a:cubicBezTo>
                    <a:pt x="1279525" y="2092325"/>
                    <a:pt x="993140" y="2379980"/>
                    <a:pt x="639699" y="2379980"/>
                  </a:cubicBezTo>
                  <a:cubicBezTo>
                    <a:pt x="286258" y="2379980"/>
                    <a:pt x="0" y="2092325"/>
                    <a:pt x="0" y="1737360"/>
                  </a:cubicBezTo>
                  <a:close/>
                </a:path>
              </a:pathLst>
            </a:custGeom>
            <a:solidFill>
              <a:srgbClr val="CCEEFF"/>
            </a:solidFill>
          </p:spPr>
          <p:txBody>
            <a:bodyPr/>
            <a:lstStyle/>
            <a:p>
              <a:endParaRPr lang="en-GB"/>
            </a:p>
          </p:txBody>
        </p:sp>
        <p:sp>
          <p:nvSpPr>
            <p:cNvPr id="15" name="Freeform 15"/>
            <p:cNvSpPr/>
            <p:nvPr/>
          </p:nvSpPr>
          <p:spPr>
            <a:xfrm>
              <a:off x="0" y="0"/>
              <a:ext cx="1292352" cy="2392807"/>
            </a:xfrm>
            <a:custGeom>
              <a:avLst/>
              <a:gdLst/>
              <a:ahLst/>
              <a:cxnLst/>
              <a:rect l="l" t="t" r="r" b="b"/>
              <a:pathLst>
                <a:path w="1292352" h="2392807">
                  <a:moveTo>
                    <a:pt x="0" y="648970"/>
                  </a:moveTo>
                  <a:cubicBezTo>
                    <a:pt x="0" y="290576"/>
                    <a:pt x="289306" y="0"/>
                    <a:pt x="646049" y="0"/>
                  </a:cubicBezTo>
                  <a:cubicBezTo>
                    <a:pt x="647954" y="0"/>
                    <a:pt x="649859" y="889"/>
                    <a:pt x="651002" y="2413"/>
                  </a:cubicBezTo>
                  <a:lnTo>
                    <a:pt x="646176" y="6350"/>
                  </a:lnTo>
                  <a:lnTo>
                    <a:pt x="646176" y="0"/>
                  </a:lnTo>
                  <a:lnTo>
                    <a:pt x="646176" y="6350"/>
                  </a:lnTo>
                  <a:lnTo>
                    <a:pt x="646176" y="0"/>
                  </a:lnTo>
                  <a:cubicBezTo>
                    <a:pt x="1003046" y="0"/>
                    <a:pt x="1292225" y="290576"/>
                    <a:pt x="1292352" y="648970"/>
                  </a:cubicBezTo>
                  <a:lnTo>
                    <a:pt x="1292352" y="1743710"/>
                  </a:lnTo>
                  <a:lnTo>
                    <a:pt x="1286002" y="1743710"/>
                  </a:lnTo>
                  <a:lnTo>
                    <a:pt x="1292352" y="1743710"/>
                  </a:lnTo>
                  <a:cubicBezTo>
                    <a:pt x="1292352" y="2102104"/>
                    <a:pt x="1003046" y="2392680"/>
                    <a:pt x="646176" y="2392680"/>
                  </a:cubicBezTo>
                  <a:lnTo>
                    <a:pt x="646176" y="2386330"/>
                  </a:lnTo>
                  <a:lnTo>
                    <a:pt x="646176" y="2392680"/>
                  </a:lnTo>
                  <a:cubicBezTo>
                    <a:pt x="289306" y="2392807"/>
                    <a:pt x="0" y="2102104"/>
                    <a:pt x="0" y="1743710"/>
                  </a:cubicBezTo>
                  <a:lnTo>
                    <a:pt x="0" y="648970"/>
                  </a:lnTo>
                  <a:lnTo>
                    <a:pt x="6350" y="648970"/>
                  </a:lnTo>
                  <a:lnTo>
                    <a:pt x="0" y="648970"/>
                  </a:lnTo>
                  <a:moveTo>
                    <a:pt x="12700" y="648970"/>
                  </a:moveTo>
                  <a:lnTo>
                    <a:pt x="12700" y="1743710"/>
                  </a:lnTo>
                  <a:lnTo>
                    <a:pt x="6350" y="1743710"/>
                  </a:lnTo>
                  <a:lnTo>
                    <a:pt x="12700" y="1743710"/>
                  </a:lnTo>
                  <a:cubicBezTo>
                    <a:pt x="12700" y="2095119"/>
                    <a:pt x="296291" y="2379980"/>
                    <a:pt x="646176" y="2379980"/>
                  </a:cubicBezTo>
                  <a:cubicBezTo>
                    <a:pt x="996061" y="2379980"/>
                    <a:pt x="1279652" y="2095119"/>
                    <a:pt x="1279652" y="1743710"/>
                  </a:cubicBezTo>
                  <a:lnTo>
                    <a:pt x="1279652" y="648970"/>
                  </a:lnTo>
                  <a:lnTo>
                    <a:pt x="1286002" y="648970"/>
                  </a:lnTo>
                  <a:lnTo>
                    <a:pt x="1279652" y="648970"/>
                  </a:lnTo>
                  <a:cubicBezTo>
                    <a:pt x="1279525" y="297561"/>
                    <a:pt x="995934" y="12700"/>
                    <a:pt x="646176" y="12700"/>
                  </a:cubicBezTo>
                  <a:cubicBezTo>
                    <a:pt x="644271" y="12700"/>
                    <a:pt x="642366" y="11811"/>
                    <a:pt x="641223" y="10287"/>
                  </a:cubicBezTo>
                  <a:lnTo>
                    <a:pt x="646049" y="6350"/>
                  </a:lnTo>
                  <a:lnTo>
                    <a:pt x="646049" y="12700"/>
                  </a:lnTo>
                  <a:cubicBezTo>
                    <a:pt x="296291" y="12700"/>
                    <a:pt x="12700" y="297561"/>
                    <a:pt x="12700" y="648970"/>
                  </a:cubicBezTo>
                  <a:close/>
                </a:path>
              </a:pathLst>
            </a:custGeom>
            <a:solidFill>
              <a:srgbClr val="B2D4E5"/>
            </a:solidFill>
          </p:spPr>
          <p:txBody>
            <a:bodyPr/>
            <a:lstStyle/>
            <a:p>
              <a:endParaRPr lang="en-GB"/>
            </a:p>
          </p:txBody>
        </p:sp>
      </p:grpSp>
      <p:sp>
        <p:nvSpPr>
          <p:cNvPr id="16" name="TextBox 16"/>
          <p:cNvSpPr txBox="1"/>
          <p:nvPr/>
        </p:nvSpPr>
        <p:spPr>
          <a:xfrm>
            <a:off x="1139577" y="4690914"/>
            <a:ext cx="359866" cy="470217"/>
          </a:xfrm>
          <a:prstGeom prst="rect">
            <a:avLst/>
          </a:prstGeom>
        </p:spPr>
        <p:txBody>
          <a:bodyPr lIns="0" tIns="0" rIns="0" bIns="0" rtlCol="0" anchor="t">
            <a:spAutoFit/>
          </a:bodyPr>
          <a:lstStyle/>
          <a:p>
            <a:pPr algn="l">
              <a:lnSpc>
                <a:spcPts val="3512"/>
              </a:lnSpc>
            </a:pPr>
            <a:r>
              <a:rPr lang="en-US" sz="3512" b="1">
                <a:solidFill>
                  <a:srgbClr val="272525"/>
                </a:solidFill>
                <a:latin typeface="Inter Bold"/>
                <a:ea typeface="Inter Bold"/>
                <a:cs typeface="Inter Bold"/>
                <a:sym typeface="Inter Bold"/>
              </a:rPr>
              <a:t>2</a:t>
            </a:r>
          </a:p>
        </p:txBody>
      </p:sp>
      <p:sp>
        <p:nvSpPr>
          <p:cNvPr id="17" name="TextBox 17"/>
          <p:cNvSpPr txBox="1"/>
          <p:nvPr/>
        </p:nvSpPr>
        <p:spPr>
          <a:xfrm>
            <a:off x="2039242" y="4186981"/>
            <a:ext cx="4423827" cy="491873"/>
          </a:xfrm>
          <a:prstGeom prst="rect">
            <a:avLst/>
          </a:prstGeom>
        </p:spPr>
        <p:txBody>
          <a:bodyPr lIns="0" tIns="0" rIns="0" bIns="0" rtlCol="0" anchor="t">
            <a:spAutoFit/>
          </a:bodyPr>
          <a:lstStyle/>
          <a:p>
            <a:pPr algn="l">
              <a:lnSpc>
                <a:spcPts val="3941"/>
              </a:lnSpc>
            </a:pPr>
            <a:r>
              <a:rPr lang="en-US" sz="3137" b="1">
                <a:solidFill>
                  <a:srgbClr val="272525"/>
                </a:solidFill>
                <a:latin typeface="Inter Bold"/>
                <a:ea typeface="Inter Bold"/>
                <a:cs typeface="Inter Bold"/>
                <a:sym typeface="Inter Bold"/>
              </a:rPr>
              <a:t>Sử Dụng Điểm Chân</a:t>
            </a:r>
          </a:p>
        </p:txBody>
      </p:sp>
      <p:sp>
        <p:nvSpPr>
          <p:cNvPr id="18" name="TextBox 18"/>
          <p:cNvSpPr txBox="1"/>
          <p:nvPr/>
        </p:nvSpPr>
        <p:spPr>
          <a:xfrm>
            <a:off x="2039242" y="4638824"/>
            <a:ext cx="15409069" cy="1002666"/>
          </a:xfrm>
          <a:prstGeom prst="rect">
            <a:avLst/>
          </a:prstGeom>
        </p:spPr>
        <p:txBody>
          <a:bodyPr lIns="0" tIns="0" rIns="0" bIns="0" rtlCol="0" anchor="t">
            <a:spAutoFit/>
          </a:bodyPr>
          <a:lstStyle/>
          <a:p>
            <a:pPr algn="l">
              <a:lnSpc>
                <a:spcPts val="4119"/>
              </a:lnSpc>
            </a:pPr>
            <a:r>
              <a:rPr lang="en-US" sz="2574">
                <a:solidFill>
                  <a:srgbClr val="272525"/>
                </a:solidFill>
                <a:latin typeface="Inter"/>
                <a:ea typeface="Inter"/>
                <a:cs typeface="Inter"/>
                <a:sym typeface="Inter"/>
              </a:rPr>
              <a:t>Thay vì tâm (x, y) của box, dùng điểm "chân" (bottom-center) của hộp giới hạn, vì điểm này ổn định hơn và đại diện tốt hơn vị trí người trên mặt đất.</a:t>
            </a:r>
          </a:p>
        </p:txBody>
      </p:sp>
      <p:grpSp>
        <p:nvGrpSpPr>
          <p:cNvPr id="19" name="Group 19"/>
          <p:cNvGrpSpPr/>
          <p:nvPr/>
        </p:nvGrpSpPr>
        <p:grpSpPr>
          <a:xfrm>
            <a:off x="834926" y="5986314"/>
            <a:ext cx="969169" cy="1794570"/>
            <a:chOff x="0" y="0"/>
            <a:chExt cx="1292225" cy="2392760"/>
          </a:xfrm>
        </p:grpSpPr>
        <p:sp>
          <p:nvSpPr>
            <p:cNvPr id="20" name="Freeform 20"/>
            <p:cNvSpPr/>
            <p:nvPr/>
          </p:nvSpPr>
          <p:spPr>
            <a:xfrm>
              <a:off x="6350" y="6350"/>
              <a:ext cx="1279525" cy="2379980"/>
            </a:xfrm>
            <a:custGeom>
              <a:avLst/>
              <a:gdLst/>
              <a:ahLst/>
              <a:cxnLst/>
              <a:rect l="l" t="t" r="r" b="b"/>
              <a:pathLst>
                <a:path w="1279525" h="2379980">
                  <a:moveTo>
                    <a:pt x="0" y="642620"/>
                  </a:moveTo>
                  <a:cubicBezTo>
                    <a:pt x="0" y="287782"/>
                    <a:pt x="286385" y="0"/>
                    <a:pt x="639699" y="0"/>
                  </a:cubicBezTo>
                  <a:cubicBezTo>
                    <a:pt x="993013" y="0"/>
                    <a:pt x="1279398" y="287782"/>
                    <a:pt x="1279525" y="642620"/>
                  </a:cubicBezTo>
                  <a:lnTo>
                    <a:pt x="1279525" y="1737360"/>
                  </a:lnTo>
                  <a:cubicBezTo>
                    <a:pt x="1279525" y="2092325"/>
                    <a:pt x="993140" y="2379980"/>
                    <a:pt x="639699" y="2379980"/>
                  </a:cubicBezTo>
                  <a:cubicBezTo>
                    <a:pt x="286258" y="2379980"/>
                    <a:pt x="0" y="2092325"/>
                    <a:pt x="0" y="1737360"/>
                  </a:cubicBezTo>
                  <a:close/>
                </a:path>
              </a:pathLst>
            </a:custGeom>
            <a:solidFill>
              <a:srgbClr val="CCEEFF"/>
            </a:solidFill>
          </p:spPr>
          <p:txBody>
            <a:bodyPr/>
            <a:lstStyle/>
            <a:p>
              <a:endParaRPr lang="en-GB"/>
            </a:p>
          </p:txBody>
        </p:sp>
        <p:sp>
          <p:nvSpPr>
            <p:cNvPr id="21" name="Freeform 21"/>
            <p:cNvSpPr/>
            <p:nvPr/>
          </p:nvSpPr>
          <p:spPr>
            <a:xfrm>
              <a:off x="0" y="0"/>
              <a:ext cx="1292352" cy="2392807"/>
            </a:xfrm>
            <a:custGeom>
              <a:avLst/>
              <a:gdLst/>
              <a:ahLst/>
              <a:cxnLst/>
              <a:rect l="l" t="t" r="r" b="b"/>
              <a:pathLst>
                <a:path w="1292352" h="2392807">
                  <a:moveTo>
                    <a:pt x="0" y="648970"/>
                  </a:moveTo>
                  <a:cubicBezTo>
                    <a:pt x="0" y="290576"/>
                    <a:pt x="289306" y="0"/>
                    <a:pt x="646049" y="0"/>
                  </a:cubicBezTo>
                  <a:cubicBezTo>
                    <a:pt x="647954" y="0"/>
                    <a:pt x="649859" y="889"/>
                    <a:pt x="651002" y="2413"/>
                  </a:cubicBezTo>
                  <a:lnTo>
                    <a:pt x="646176" y="6350"/>
                  </a:lnTo>
                  <a:lnTo>
                    <a:pt x="646176" y="0"/>
                  </a:lnTo>
                  <a:lnTo>
                    <a:pt x="646176" y="6350"/>
                  </a:lnTo>
                  <a:lnTo>
                    <a:pt x="646176" y="0"/>
                  </a:lnTo>
                  <a:cubicBezTo>
                    <a:pt x="1003046" y="0"/>
                    <a:pt x="1292225" y="290576"/>
                    <a:pt x="1292352" y="648970"/>
                  </a:cubicBezTo>
                  <a:lnTo>
                    <a:pt x="1292352" y="1743710"/>
                  </a:lnTo>
                  <a:lnTo>
                    <a:pt x="1286002" y="1743710"/>
                  </a:lnTo>
                  <a:lnTo>
                    <a:pt x="1292352" y="1743710"/>
                  </a:lnTo>
                  <a:cubicBezTo>
                    <a:pt x="1292352" y="2102104"/>
                    <a:pt x="1003046" y="2392680"/>
                    <a:pt x="646176" y="2392680"/>
                  </a:cubicBezTo>
                  <a:lnTo>
                    <a:pt x="646176" y="2386330"/>
                  </a:lnTo>
                  <a:lnTo>
                    <a:pt x="646176" y="2392680"/>
                  </a:lnTo>
                  <a:cubicBezTo>
                    <a:pt x="289306" y="2392807"/>
                    <a:pt x="0" y="2102104"/>
                    <a:pt x="0" y="1743710"/>
                  </a:cubicBezTo>
                  <a:lnTo>
                    <a:pt x="0" y="648970"/>
                  </a:lnTo>
                  <a:lnTo>
                    <a:pt x="6350" y="648970"/>
                  </a:lnTo>
                  <a:lnTo>
                    <a:pt x="0" y="648970"/>
                  </a:lnTo>
                  <a:moveTo>
                    <a:pt x="12700" y="648970"/>
                  </a:moveTo>
                  <a:lnTo>
                    <a:pt x="12700" y="1743710"/>
                  </a:lnTo>
                  <a:lnTo>
                    <a:pt x="6350" y="1743710"/>
                  </a:lnTo>
                  <a:lnTo>
                    <a:pt x="12700" y="1743710"/>
                  </a:lnTo>
                  <a:cubicBezTo>
                    <a:pt x="12700" y="2095119"/>
                    <a:pt x="296291" y="2379980"/>
                    <a:pt x="646176" y="2379980"/>
                  </a:cubicBezTo>
                  <a:cubicBezTo>
                    <a:pt x="996061" y="2379980"/>
                    <a:pt x="1279652" y="2095119"/>
                    <a:pt x="1279652" y="1743710"/>
                  </a:cubicBezTo>
                  <a:lnTo>
                    <a:pt x="1279652" y="648970"/>
                  </a:lnTo>
                  <a:lnTo>
                    <a:pt x="1286002" y="648970"/>
                  </a:lnTo>
                  <a:lnTo>
                    <a:pt x="1279652" y="648970"/>
                  </a:lnTo>
                  <a:cubicBezTo>
                    <a:pt x="1279525" y="297561"/>
                    <a:pt x="995934" y="12700"/>
                    <a:pt x="646176" y="12700"/>
                  </a:cubicBezTo>
                  <a:cubicBezTo>
                    <a:pt x="644271" y="12700"/>
                    <a:pt x="642366" y="11811"/>
                    <a:pt x="641223" y="10287"/>
                  </a:cubicBezTo>
                  <a:lnTo>
                    <a:pt x="646049" y="6350"/>
                  </a:lnTo>
                  <a:lnTo>
                    <a:pt x="646049" y="12700"/>
                  </a:lnTo>
                  <a:cubicBezTo>
                    <a:pt x="296291" y="12700"/>
                    <a:pt x="12700" y="297561"/>
                    <a:pt x="12700" y="648970"/>
                  </a:cubicBezTo>
                  <a:close/>
                </a:path>
              </a:pathLst>
            </a:custGeom>
            <a:solidFill>
              <a:srgbClr val="B2D4E5"/>
            </a:solidFill>
          </p:spPr>
          <p:txBody>
            <a:bodyPr/>
            <a:lstStyle/>
            <a:p>
              <a:endParaRPr lang="en-GB"/>
            </a:p>
          </p:txBody>
        </p:sp>
      </p:grpSp>
      <p:sp>
        <p:nvSpPr>
          <p:cNvPr id="22" name="TextBox 22"/>
          <p:cNvSpPr txBox="1"/>
          <p:nvPr/>
        </p:nvSpPr>
        <p:spPr>
          <a:xfrm>
            <a:off x="1139577" y="6715869"/>
            <a:ext cx="359866" cy="470217"/>
          </a:xfrm>
          <a:prstGeom prst="rect">
            <a:avLst/>
          </a:prstGeom>
        </p:spPr>
        <p:txBody>
          <a:bodyPr lIns="0" tIns="0" rIns="0" bIns="0" rtlCol="0" anchor="t">
            <a:spAutoFit/>
          </a:bodyPr>
          <a:lstStyle/>
          <a:p>
            <a:pPr algn="l">
              <a:lnSpc>
                <a:spcPts val="3512"/>
              </a:lnSpc>
            </a:pPr>
            <a:r>
              <a:rPr lang="en-US" sz="3512" b="1">
                <a:solidFill>
                  <a:srgbClr val="272525"/>
                </a:solidFill>
                <a:latin typeface="Inter Bold"/>
                <a:ea typeface="Inter Bold"/>
                <a:cs typeface="Inter Bold"/>
                <a:sym typeface="Inter Bold"/>
              </a:rPr>
              <a:t>3</a:t>
            </a:r>
          </a:p>
        </p:txBody>
      </p:sp>
      <p:sp>
        <p:nvSpPr>
          <p:cNvPr id="23" name="TextBox 23"/>
          <p:cNvSpPr txBox="1"/>
          <p:nvPr/>
        </p:nvSpPr>
        <p:spPr>
          <a:xfrm>
            <a:off x="2039243" y="6211937"/>
            <a:ext cx="6749846" cy="491873"/>
          </a:xfrm>
          <a:prstGeom prst="rect">
            <a:avLst/>
          </a:prstGeom>
        </p:spPr>
        <p:txBody>
          <a:bodyPr lIns="0" tIns="0" rIns="0" bIns="0" rtlCol="0" anchor="t">
            <a:spAutoFit/>
          </a:bodyPr>
          <a:lstStyle/>
          <a:p>
            <a:pPr algn="l">
              <a:lnSpc>
                <a:spcPts val="3941"/>
              </a:lnSpc>
            </a:pPr>
            <a:r>
              <a:rPr lang="en-US" sz="3137" b="1">
                <a:solidFill>
                  <a:srgbClr val="272525"/>
                </a:solidFill>
                <a:latin typeface="Inter Bold"/>
                <a:ea typeface="Inter Bold"/>
                <a:cs typeface="Inter Bold"/>
                <a:sym typeface="Inter Bold"/>
              </a:rPr>
              <a:t>Sử Dụng Vùng Thay Vì Đường</a:t>
            </a:r>
          </a:p>
        </p:txBody>
      </p:sp>
      <p:sp>
        <p:nvSpPr>
          <p:cNvPr id="24" name="TextBox 24"/>
          <p:cNvSpPr txBox="1"/>
          <p:nvPr/>
        </p:nvSpPr>
        <p:spPr>
          <a:xfrm>
            <a:off x="2039242" y="6663779"/>
            <a:ext cx="15409069" cy="1002666"/>
          </a:xfrm>
          <a:prstGeom prst="rect">
            <a:avLst/>
          </a:prstGeom>
        </p:spPr>
        <p:txBody>
          <a:bodyPr lIns="0" tIns="0" rIns="0" bIns="0" rtlCol="0" anchor="t">
            <a:spAutoFit/>
          </a:bodyPr>
          <a:lstStyle/>
          <a:p>
            <a:pPr algn="l">
              <a:lnSpc>
                <a:spcPts val="4119"/>
              </a:lnSpc>
            </a:pPr>
            <a:r>
              <a:rPr lang="en-US" sz="2574">
                <a:solidFill>
                  <a:srgbClr val="272525"/>
                </a:solidFill>
                <a:latin typeface="Inter"/>
                <a:ea typeface="Inter"/>
                <a:cs typeface="Inter"/>
                <a:sym typeface="Inter"/>
              </a:rPr>
              <a:t>Định nghĩa hai đường tạo vùng "đệm". Một đối tượng chỉ được đếm khi đi vào vùng từ đường 1 và đi ra khỏi vùng qua đường 2, tránh đếm hụt.</a:t>
            </a:r>
          </a:p>
        </p:txBody>
      </p:sp>
      <p:grpSp>
        <p:nvGrpSpPr>
          <p:cNvPr id="25" name="Group 25"/>
          <p:cNvGrpSpPr/>
          <p:nvPr/>
        </p:nvGrpSpPr>
        <p:grpSpPr>
          <a:xfrm>
            <a:off x="834926" y="8011269"/>
            <a:ext cx="969169" cy="1448991"/>
            <a:chOff x="0" y="0"/>
            <a:chExt cx="1292225" cy="1931988"/>
          </a:xfrm>
        </p:grpSpPr>
        <p:sp>
          <p:nvSpPr>
            <p:cNvPr id="26" name="Freeform 26"/>
            <p:cNvSpPr/>
            <p:nvPr/>
          </p:nvSpPr>
          <p:spPr>
            <a:xfrm>
              <a:off x="6350" y="6350"/>
              <a:ext cx="1279525" cy="1919224"/>
            </a:xfrm>
            <a:custGeom>
              <a:avLst/>
              <a:gdLst/>
              <a:ahLst/>
              <a:cxnLst/>
              <a:rect l="l" t="t" r="r" b="b"/>
              <a:pathLst>
                <a:path w="1279525" h="1919224">
                  <a:moveTo>
                    <a:pt x="0" y="641858"/>
                  </a:moveTo>
                  <a:cubicBezTo>
                    <a:pt x="0" y="287401"/>
                    <a:pt x="286385" y="0"/>
                    <a:pt x="639699" y="0"/>
                  </a:cubicBezTo>
                  <a:cubicBezTo>
                    <a:pt x="993013" y="0"/>
                    <a:pt x="1279398" y="287401"/>
                    <a:pt x="1279525" y="641858"/>
                  </a:cubicBezTo>
                  <a:lnTo>
                    <a:pt x="1279525" y="1277366"/>
                  </a:lnTo>
                  <a:cubicBezTo>
                    <a:pt x="1279525" y="1631823"/>
                    <a:pt x="993140" y="1919224"/>
                    <a:pt x="639699" y="1919224"/>
                  </a:cubicBezTo>
                  <a:cubicBezTo>
                    <a:pt x="286258" y="1919224"/>
                    <a:pt x="0" y="1631950"/>
                    <a:pt x="0" y="1277366"/>
                  </a:cubicBezTo>
                  <a:close/>
                </a:path>
              </a:pathLst>
            </a:custGeom>
            <a:solidFill>
              <a:srgbClr val="CCEEFF"/>
            </a:solidFill>
          </p:spPr>
          <p:txBody>
            <a:bodyPr/>
            <a:lstStyle/>
            <a:p>
              <a:endParaRPr lang="en-GB"/>
            </a:p>
          </p:txBody>
        </p:sp>
        <p:sp>
          <p:nvSpPr>
            <p:cNvPr id="27" name="Freeform 27"/>
            <p:cNvSpPr/>
            <p:nvPr/>
          </p:nvSpPr>
          <p:spPr>
            <a:xfrm>
              <a:off x="0" y="0"/>
              <a:ext cx="1292352" cy="1932051"/>
            </a:xfrm>
            <a:custGeom>
              <a:avLst/>
              <a:gdLst/>
              <a:ahLst/>
              <a:cxnLst/>
              <a:rect l="l" t="t" r="r" b="b"/>
              <a:pathLst>
                <a:path w="1292352" h="1932051">
                  <a:moveTo>
                    <a:pt x="0" y="648208"/>
                  </a:moveTo>
                  <a:cubicBezTo>
                    <a:pt x="0" y="290195"/>
                    <a:pt x="289306" y="0"/>
                    <a:pt x="646049" y="0"/>
                  </a:cubicBezTo>
                  <a:cubicBezTo>
                    <a:pt x="647954" y="0"/>
                    <a:pt x="649859" y="889"/>
                    <a:pt x="651002" y="2413"/>
                  </a:cubicBezTo>
                  <a:lnTo>
                    <a:pt x="646176" y="6350"/>
                  </a:lnTo>
                  <a:lnTo>
                    <a:pt x="646176" y="0"/>
                  </a:lnTo>
                  <a:lnTo>
                    <a:pt x="646176" y="6350"/>
                  </a:lnTo>
                  <a:lnTo>
                    <a:pt x="646176" y="0"/>
                  </a:lnTo>
                  <a:cubicBezTo>
                    <a:pt x="1003046" y="0"/>
                    <a:pt x="1292225" y="290195"/>
                    <a:pt x="1292352" y="648208"/>
                  </a:cubicBezTo>
                  <a:lnTo>
                    <a:pt x="1292352" y="1283716"/>
                  </a:lnTo>
                  <a:lnTo>
                    <a:pt x="1286002" y="1283716"/>
                  </a:lnTo>
                  <a:lnTo>
                    <a:pt x="1292352" y="1283716"/>
                  </a:lnTo>
                  <a:cubicBezTo>
                    <a:pt x="1292352" y="1641729"/>
                    <a:pt x="1003046" y="1931924"/>
                    <a:pt x="646176" y="1931924"/>
                  </a:cubicBezTo>
                  <a:lnTo>
                    <a:pt x="646176" y="1925574"/>
                  </a:lnTo>
                  <a:lnTo>
                    <a:pt x="646176" y="1931924"/>
                  </a:lnTo>
                  <a:cubicBezTo>
                    <a:pt x="289306" y="1932051"/>
                    <a:pt x="0" y="1641729"/>
                    <a:pt x="0" y="1283716"/>
                  </a:cubicBezTo>
                  <a:lnTo>
                    <a:pt x="0" y="648208"/>
                  </a:lnTo>
                  <a:lnTo>
                    <a:pt x="6350" y="648208"/>
                  </a:lnTo>
                  <a:lnTo>
                    <a:pt x="0" y="648208"/>
                  </a:lnTo>
                  <a:moveTo>
                    <a:pt x="12700" y="648208"/>
                  </a:moveTo>
                  <a:lnTo>
                    <a:pt x="12700" y="1283716"/>
                  </a:lnTo>
                  <a:lnTo>
                    <a:pt x="6350" y="1283716"/>
                  </a:lnTo>
                  <a:lnTo>
                    <a:pt x="12700" y="1283716"/>
                  </a:lnTo>
                  <a:cubicBezTo>
                    <a:pt x="12700" y="1634744"/>
                    <a:pt x="296291" y="1919224"/>
                    <a:pt x="646176" y="1919224"/>
                  </a:cubicBezTo>
                  <a:cubicBezTo>
                    <a:pt x="996061" y="1919224"/>
                    <a:pt x="1279652" y="1634744"/>
                    <a:pt x="1279652" y="1283716"/>
                  </a:cubicBezTo>
                  <a:lnTo>
                    <a:pt x="1279652" y="648208"/>
                  </a:lnTo>
                  <a:lnTo>
                    <a:pt x="1286002" y="648208"/>
                  </a:lnTo>
                  <a:lnTo>
                    <a:pt x="1279652" y="648208"/>
                  </a:lnTo>
                  <a:cubicBezTo>
                    <a:pt x="1279525" y="297180"/>
                    <a:pt x="995934" y="12700"/>
                    <a:pt x="646176" y="12700"/>
                  </a:cubicBezTo>
                  <a:cubicBezTo>
                    <a:pt x="644271" y="12700"/>
                    <a:pt x="642366" y="11811"/>
                    <a:pt x="641223" y="10287"/>
                  </a:cubicBezTo>
                  <a:lnTo>
                    <a:pt x="646049" y="6350"/>
                  </a:lnTo>
                  <a:lnTo>
                    <a:pt x="646049" y="12700"/>
                  </a:lnTo>
                  <a:cubicBezTo>
                    <a:pt x="296291" y="12700"/>
                    <a:pt x="12700" y="297180"/>
                    <a:pt x="12700" y="648208"/>
                  </a:cubicBezTo>
                  <a:close/>
                </a:path>
              </a:pathLst>
            </a:custGeom>
            <a:solidFill>
              <a:srgbClr val="B2D4E5"/>
            </a:solidFill>
          </p:spPr>
          <p:txBody>
            <a:bodyPr/>
            <a:lstStyle/>
            <a:p>
              <a:endParaRPr lang="en-GB"/>
            </a:p>
          </p:txBody>
        </p:sp>
      </p:grpSp>
      <p:sp>
        <p:nvSpPr>
          <p:cNvPr id="28" name="TextBox 28"/>
          <p:cNvSpPr txBox="1"/>
          <p:nvPr/>
        </p:nvSpPr>
        <p:spPr>
          <a:xfrm>
            <a:off x="1139577" y="8568035"/>
            <a:ext cx="359866" cy="470217"/>
          </a:xfrm>
          <a:prstGeom prst="rect">
            <a:avLst/>
          </a:prstGeom>
        </p:spPr>
        <p:txBody>
          <a:bodyPr lIns="0" tIns="0" rIns="0" bIns="0" rtlCol="0" anchor="t">
            <a:spAutoFit/>
          </a:bodyPr>
          <a:lstStyle/>
          <a:p>
            <a:pPr algn="l">
              <a:lnSpc>
                <a:spcPts val="3512"/>
              </a:lnSpc>
            </a:pPr>
            <a:r>
              <a:rPr lang="en-US" sz="3512" b="1">
                <a:solidFill>
                  <a:srgbClr val="272525"/>
                </a:solidFill>
                <a:latin typeface="Inter Bold"/>
                <a:ea typeface="Inter Bold"/>
                <a:cs typeface="Inter Bold"/>
                <a:sym typeface="Inter Bold"/>
              </a:rPr>
              <a:t>4</a:t>
            </a:r>
          </a:p>
        </p:txBody>
      </p:sp>
      <p:sp>
        <p:nvSpPr>
          <p:cNvPr id="29" name="TextBox 29"/>
          <p:cNvSpPr txBox="1"/>
          <p:nvPr/>
        </p:nvSpPr>
        <p:spPr>
          <a:xfrm>
            <a:off x="2039242" y="8236892"/>
            <a:ext cx="5336876" cy="491873"/>
          </a:xfrm>
          <a:prstGeom prst="rect">
            <a:avLst/>
          </a:prstGeom>
        </p:spPr>
        <p:txBody>
          <a:bodyPr lIns="0" tIns="0" rIns="0" bIns="0" rtlCol="0" anchor="t">
            <a:spAutoFit/>
          </a:bodyPr>
          <a:lstStyle/>
          <a:p>
            <a:pPr algn="l">
              <a:lnSpc>
                <a:spcPts val="3941"/>
              </a:lnSpc>
            </a:pPr>
            <a:r>
              <a:rPr lang="en-US" sz="3137" b="1">
                <a:solidFill>
                  <a:srgbClr val="272525"/>
                </a:solidFill>
                <a:latin typeface="Inter Bold"/>
                <a:ea typeface="Inter Bold"/>
                <a:cs typeface="Inter Bold"/>
                <a:sym typeface="Inter Bold"/>
              </a:rPr>
              <a:t>Thử Mô Hình Lớn Hơn</a:t>
            </a:r>
          </a:p>
        </p:txBody>
      </p:sp>
      <p:sp>
        <p:nvSpPr>
          <p:cNvPr id="30" name="TextBox 30"/>
          <p:cNvSpPr txBox="1"/>
          <p:nvPr/>
        </p:nvSpPr>
        <p:spPr>
          <a:xfrm>
            <a:off x="2039242" y="8688735"/>
            <a:ext cx="15409069" cy="1002666"/>
          </a:xfrm>
          <a:prstGeom prst="rect">
            <a:avLst/>
          </a:prstGeom>
        </p:spPr>
        <p:txBody>
          <a:bodyPr lIns="0" tIns="0" rIns="0" bIns="0" rtlCol="0" anchor="t">
            <a:spAutoFit/>
          </a:bodyPr>
          <a:lstStyle/>
          <a:p>
            <a:pPr algn="l">
              <a:lnSpc>
                <a:spcPts val="4119"/>
              </a:lnSpc>
            </a:pPr>
            <a:r>
              <a:rPr lang="en-US" sz="2574">
                <a:solidFill>
                  <a:srgbClr val="272525"/>
                </a:solidFill>
                <a:latin typeface="Inter"/>
                <a:ea typeface="Inter"/>
                <a:cs typeface="Inter"/>
                <a:sym typeface="Inter"/>
              </a:rPr>
              <a:t>Sử dụng yolov8s hoặc yolov8m để tăng độ chính xác phát hiện. Dù hy sinh tốc độ nhưng giảm sai sót trong những trường hợp phức tạp.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GB"/>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txBody>
            <a:bodyPr/>
            <a:lstStyle/>
            <a:p>
              <a:endParaRPr lang="en-GB"/>
            </a:p>
          </p:txBody>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txBody>
            <a:bodyPr/>
            <a:lstStyle/>
            <a:p>
              <a:endParaRPr lang="en-GB"/>
            </a:p>
          </p:txBody>
        </p:sp>
      </p:grpSp>
      <p:sp>
        <p:nvSpPr>
          <p:cNvPr id="8" name="TextBox 8"/>
          <p:cNvSpPr txBox="1"/>
          <p:nvPr/>
        </p:nvSpPr>
        <p:spPr>
          <a:xfrm>
            <a:off x="7850238" y="2556122"/>
            <a:ext cx="5954166" cy="738187"/>
          </a:xfrm>
          <a:prstGeom prst="rect">
            <a:avLst/>
          </a:prstGeom>
        </p:spPr>
        <p:txBody>
          <a:bodyPr lIns="0" tIns="0" rIns="0" bIns="0" rtlCol="0" anchor="t">
            <a:spAutoFit/>
          </a:bodyPr>
          <a:lstStyle/>
          <a:p>
            <a:pPr algn="l">
              <a:lnSpc>
                <a:spcPts val="5812"/>
              </a:lnSpc>
            </a:pPr>
            <a:r>
              <a:rPr lang="en-US" sz="4687" b="1">
                <a:solidFill>
                  <a:srgbClr val="000000"/>
                </a:solidFill>
                <a:latin typeface="Inter Bold"/>
                <a:ea typeface="Inter Bold"/>
                <a:cs typeface="Inter Bold"/>
                <a:sym typeface="Inter Bold"/>
              </a:rPr>
              <a:t>IX. KẾT LUẬN</a:t>
            </a:r>
          </a:p>
        </p:txBody>
      </p:sp>
      <p:sp>
        <p:nvSpPr>
          <p:cNvPr id="9" name="TextBox 9"/>
          <p:cNvSpPr txBox="1"/>
          <p:nvPr/>
        </p:nvSpPr>
        <p:spPr>
          <a:xfrm>
            <a:off x="7850237" y="3639890"/>
            <a:ext cx="9445526" cy="3282724"/>
          </a:xfrm>
          <a:prstGeom prst="rect">
            <a:avLst/>
          </a:prstGeom>
        </p:spPr>
        <p:txBody>
          <a:bodyPr lIns="0" tIns="0" rIns="0" bIns="0" rtlCol="0" anchor="t">
            <a:spAutoFit/>
          </a:bodyPr>
          <a:lstStyle/>
          <a:p>
            <a:pPr algn="l">
              <a:lnSpc>
                <a:spcPts val="4376"/>
              </a:lnSpc>
            </a:pPr>
            <a:r>
              <a:rPr lang="en-US" sz="2687">
                <a:solidFill>
                  <a:srgbClr val="272525"/>
                </a:solidFill>
                <a:latin typeface="Inter"/>
                <a:ea typeface="Inter"/>
                <a:cs typeface="Inter"/>
                <a:sym typeface="Inter"/>
              </a:rPr>
              <a:t>Đề tài đã thành công trong việc xây dựng một hệ thống đếm người qua cổng hoàn chỉnh, sử dụng mô hình YOLOv8 và thư viện OpenCV. Bằng cách kết hợp phát hiện đối tượng, theo dõi đối tượng qua track ID và thuật toán line-crossing, chương trình tự động hóa việc đếm lưu lượng người một cách hiệu quả.</a:t>
            </a:r>
          </a:p>
        </p:txBody>
      </p:sp>
      <p:sp>
        <p:nvSpPr>
          <p:cNvPr id="10" name="TextBox 10"/>
          <p:cNvSpPr txBox="1"/>
          <p:nvPr/>
        </p:nvSpPr>
        <p:spPr>
          <a:xfrm>
            <a:off x="7850237" y="7265514"/>
            <a:ext cx="9445526" cy="2177824"/>
          </a:xfrm>
          <a:prstGeom prst="rect">
            <a:avLst/>
          </a:prstGeom>
        </p:spPr>
        <p:txBody>
          <a:bodyPr lIns="0" tIns="0" rIns="0" bIns="0" rtlCol="0" anchor="t">
            <a:spAutoFit/>
          </a:bodyPr>
          <a:lstStyle/>
          <a:p>
            <a:pPr algn="l">
              <a:lnSpc>
                <a:spcPts val="4376"/>
              </a:lnSpc>
            </a:pPr>
            <a:r>
              <a:rPr lang="en-US" sz="2687" b="1">
                <a:solidFill>
                  <a:srgbClr val="272525"/>
                </a:solidFill>
                <a:latin typeface="Inter Bold"/>
                <a:ea typeface="Inter Bold"/>
                <a:cs typeface="Inter Bold"/>
                <a:sym typeface="Inter Bold"/>
              </a:rPr>
              <a:t>Đóng Góp Chính:</a:t>
            </a:r>
            <a:r>
              <a:rPr lang="en-US" sz="2687">
                <a:solidFill>
                  <a:srgbClr val="272525"/>
                </a:solidFill>
                <a:latin typeface="Inter"/>
                <a:ea typeface="Inter"/>
                <a:cs typeface="Inter"/>
                <a:sym typeface="Inter"/>
              </a:rPr>
              <a:t> Cung cấp giải pháp thời gian thực, chi phí thấp, dễ triển khai cho các cơ sở cần giám sát lưu lượng người, từ cổng vào, cửa hàng đến các sự kiện công cộng.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28236" y="5642865"/>
            <a:ext cx="7460770" cy="746077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3"/>
              <a:stretch>
                <a:fillRect/>
              </a:stretch>
            </a:blipFill>
            <a:ln w="190500" cap="sq">
              <a:solidFill>
                <a:srgbClr val="123586"/>
              </a:solidFill>
              <a:prstDash val="solid"/>
              <a:miter/>
            </a:ln>
          </p:spPr>
          <p:txBody>
            <a:bodyPr/>
            <a:lstStyle/>
            <a:p>
              <a:endParaRPr lang="en-GB"/>
            </a:p>
          </p:txBody>
        </p:sp>
      </p:grpSp>
      <p:sp>
        <p:nvSpPr>
          <p:cNvPr id="4" name="Freeform 4"/>
          <p:cNvSpPr/>
          <p:nvPr/>
        </p:nvSpPr>
        <p:spPr>
          <a:xfrm flipV="1">
            <a:off x="-5589639" y="-2192252"/>
            <a:ext cx="10192919" cy="9619567"/>
          </a:xfrm>
          <a:custGeom>
            <a:avLst/>
            <a:gdLst/>
            <a:ahLst/>
            <a:cxnLst/>
            <a:rect l="l" t="t" r="r" b="b"/>
            <a:pathLst>
              <a:path w="10192919" h="9619567">
                <a:moveTo>
                  <a:pt x="0" y="9619567"/>
                </a:moveTo>
                <a:lnTo>
                  <a:pt x="10192919" y="9619567"/>
                </a:lnTo>
                <a:lnTo>
                  <a:pt x="10192919" y="0"/>
                </a:lnTo>
                <a:lnTo>
                  <a:pt x="0" y="0"/>
                </a:lnTo>
                <a:lnTo>
                  <a:pt x="0" y="9619567"/>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GB"/>
          </a:p>
        </p:txBody>
      </p:sp>
      <p:sp>
        <p:nvSpPr>
          <p:cNvPr id="5" name="Freeform 5"/>
          <p:cNvSpPr/>
          <p:nvPr/>
        </p:nvSpPr>
        <p:spPr>
          <a:xfrm flipH="1">
            <a:off x="13684720" y="2859685"/>
            <a:ext cx="10192919" cy="9619567"/>
          </a:xfrm>
          <a:custGeom>
            <a:avLst/>
            <a:gdLst/>
            <a:ahLst/>
            <a:cxnLst/>
            <a:rect l="l" t="t" r="r" b="b"/>
            <a:pathLst>
              <a:path w="10192919" h="9619567">
                <a:moveTo>
                  <a:pt x="10192919" y="0"/>
                </a:moveTo>
                <a:lnTo>
                  <a:pt x="0" y="0"/>
                </a:lnTo>
                <a:lnTo>
                  <a:pt x="0" y="9619567"/>
                </a:lnTo>
                <a:lnTo>
                  <a:pt x="10192919" y="9619567"/>
                </a:lnTo>
                <a:lnTo>
                  <a:pt x="10192919"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GB"/>
          </a:p>
        </p:txBody>
      </p:sp>
      <p:grpSp>
        <p:nvGrpSpPr>
          <p:cNvPr id="6" name="Group 6"/>
          <p:cNvGrpSpPr/>
          <p:nvPr/>
        </p:nvGrpSpPr>
        <p:grpSpPr>
          <a:xfrm>
            <a:off x="13432907" y="-2355370"/>
            <a:ext cx="7460770" cy="746077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6"/>
              <a:stretch>
                <a:fillRect l="-17101" r="-16231"/>
              </a:stretch>
            </a:blipFill>
            <a:ln w="190500" cap="sq">
              <a:solidFill>
                <a:srgbClr val="123586"/>
              </a:solidFill>
              <a:prstDash val="solid"/>
              <a:miter/>
            </a:ln>
          </p:spPr>
          <p:txBody>
            <a:bodyPr/>
            <a:lstStyle/>
            <a:p>
              <a:endParaRPr lang="en-GB"/>
            </a:p>
          </p:txBody>
        </p:sp>
      </p:grpSp>
      <p:sp>
        <p:nvSpPr>
          <p:cNvPr id="8" name="TextBox 8"/>
          <p:cNvSpPr txBox="1"/>
          <p:nvPr/>
        </p:nvSpPr>
        <p:spPr>
          <a:xfrm>
            <a:off x="3198483" y="4389673"/>
            <a:ext cx="11891033" cy="1503045"/>
          </a:xfrm>
          <a:prstGeom prst="rect">
            <a:avLst/>
          </a:prstGeom>
        </p:spPr>
        <p:txBody>
          <a:bodyPr lIns="0" tIns="0" rIns="0" bIns="0" rtlCol="0" anchor="t">
            <a:spAutoFit/>
          </a:bodyPr>
          <a:lstStyle/>
          <a:p>
            <a:pPr algn="ctr">
              <a:lnSpc>
                <a:spcPts val="11770"/>
              </a:lnSpc>
            </a:pPr>
            <a:r>
              <a:rPr lang="en-US" sz="9808" b="1">
                <a:solidFill>
                  <a:srgbClr val="123586"/>
                </a:solidFill>
                <a:latin typeface="Eastman Grotesque Bold"/>
                <a:ea typeface="Eastman Grotesque Bold"/>
                <a:cs typeface="Eastman Grotesque Bold"/>
                <a:sym typeface="Eastman Grotesque Bold"/>
              </a:rPr>
              <a:t>THANK YOU</a:t>
            </a:r>
          </a:p>
        </p:txBody>
      </p:sp>
      <p:grpSp>
        <p:nvGrpSpPr>
          <p:cNvPr id="9" name="Group 9"/>
          <p:cNvGrpSpPr>
            <a:grpSpLocks noChangeAspect="1"/>
          </p:cNvGrpSpPr>
          <p:nvPr/>
        </p:nvGrpSpPr>
        <p:grpSpPr>
          <a:xfrm rot="-4129156">
            <a:off x="15352179" y="-3475486"/>
            <a:ext cx="6858000" cy="10287000"/>
            <a:chOff x="0" y="0"/>
            <a:chExt cx="9144000" cy="13716000"/>
          </a:xfrm>
        </p:grpSpPr>
        <p:sp>
          <p:nvSpPr>
            <p:cNvPr id="10" name="Freeform 10"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7"/>
              <a:stretch>
                <a:fillRect/>
              </a:stretch>
            </a:blipFill>
          </p:spPr>
          <p:txBody>
            <a:bodyPr/>
            <a:lstStyle/>
            <a:p>
              <a:endParaRPr lang="en-GB"/>
            </a:p>
          </p:txBody>
        </p:sp>
      </p:grpSp>
      <p:grpSp>
        <p:nvGrpSpPr>
          <p:cNvPr id="11" name="Group 11"/>
          <p:cNvGrpSpPr>
            <a:grpSpLocks noChangeAspect="1"/>
          </p:cNvGrpSpPr>
          <p:nvPr/>
        </p:nvGrpSpPr>
        <p:grpSpPr>
          <a:xfrm rot="-2848410">
            <a:off x="-1971208" y="5259402"/>
            <a:ext cx="6858000" cy="10287000"/>
            <a:chOff x="0" y="0"/>
            <a:chExt cx="9144000" cy="13716000"/>
          </a:xfrm>
        </p:grpSpPr>
        <p:sp>
          <p:nvSpPr>
            <p:cNvPr id="12" name="Freeform 12"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7"/>
              <a:stretch>
                <a:fillRect/>
              </a:stretch>
            </a:blipFill>
          </p:spPr>
          <p:txBody>
            <a:bodyPr/>
            <a:lstStyle/>
            <a:p>
              <a:endParaRPr lang="en-GB"/>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1280</Words>
  <Application>Microsoft Office PowerPoint</Application>
  <PresentationFormat>Tùy chỉnh</PresentationFormat>
  <Paragraphs>108</Paragraphs>
  <Slides>12</Slides>
  <Notes>10</Notes>
  <HiddenSlides>0</HiddenSlides>
  <MMClips>0</MMClips>
  <ScaleCrop>false</ScaleCrop>
  <HeadingPairs>
    <vt:vector size="6" baseType="variant">
      <vt:variant>
        <vt:lpstr>Phông được Dùng</vt:lpstr>
      </vt:variant>
      <vt:variant>
        <vt:i4>8</vt:i4>
      </vt:variant>
      <vt:variant>
        <vt:lpstr>Chủ đề</vt:lpstr>
      </vt:variant>
      <vt:variant>
        <vt:i4>1</vt:i4>
      </vt:variant>
      <vt:variant>
        <vt:lpstr>Tiêu đề Bản chiếu</vt:lpstr>
      </vt:variant>
      <vt:variant>
        <vt:i4>12</vt:i4>
      </vt:variant>
    </vt:vector>
  </HeadingPairs>
  <TitlesOfParts>
    <vt:vector size="21" baseType="lpstr">
      <vt:lpstr>Inter</vt:lpstr>
      <vt:lpstr>Helios Bold</vt:lpstr>
      <vt:lpstr>Helios</vt:lpstr>
      <vt:lpstr>Inter Bold</vt:lpstr>
      <vt:lpstr>Arial</vt:lpstr>
      <vt:lpstr>Eastman Grotesque Bold</vt:lpstr>
      <vt:lpstr>Petrona</vt:lpstr>
      <vt:lpstr>Calibri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Phat-Hien-va-Theo-Doi-Chuyen-DJong-DJe-DJem-So-Nguoi-Qua-Cong.pptx</dc:title>
  <cp:lastModifiedBy>chương nguyễn</cp:lastModifiedBy>
  <cp:revision>4</cp:revision>
  <dcterms:created xsi:type="dcterms:W3CDTF">2006-08-16T00:00:00Z</dcterms:created>
  <dcterms:modified xsi:type="dcterms:W3CDTF">2025-10-25T13:56:22Z</dcterms:modified>
  <dc:identifier>DAG2yO5FU3c</dc:identifier>
</cp:coreProperties>
</file>